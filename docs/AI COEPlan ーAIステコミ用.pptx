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2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611" r:id="rId5"/>
    <p:sldId id="624" r:id="rId6"/>
    <p:sldId id="628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te, Catherine" initials="WC" lastIdx="80" clrIdx="0">
    <p:extLst>
      <p:ext uri="{19B8F6BF-5375-455C-9EA6-DF929625EA0E}">
        <p15:presenceInfo xmlns:p15="http://schemas.microsoft.com/office/powerpoint/2012/main" userId="S::cjwhite@kpmg.ca::0dea3d63-dcad-4748-a310-11ef28cac8a4" providerId="AD"/>
      </p:ext>
    </p:extLst>
  </p:cmAuthor>
  <p:cmAuthor id="2" name="Rosli, Saifun" initials="RS" lastIdx="24" clrIdx="1">
    <p:extLst>
      <p:ext uri="{19B8F6BF-5375-455C-9EA6-DF929625EA0E}">
        <p15:presenceInfo xmlns:p15="http://schemas.microsoft.com/office/powerpoint/2012/main" userId="S::Saifun.BinAhmadRosli@KPMG.co.uk::970add96-9dc8-4349-9b4f-4aeb9a30bf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E6FF"/>
    <a:srgbClr val="ACEAFF"/>
    <a:srgbClr val="E8DCE0"/>
    <a:srgbClr val="E5E5E5"/>
    <a:srgbClr val="005A84"/>
    <a:srgbClr val="AB0D82"/>
    <a:srgbClr val="098E7E"/>
    <a:srgbClr val="B497FF"/>
    <a:srgbClr val="510DBC"/>
    <a:srgbClr val="00C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296" autoAdjust="0"/>
  </p:normalViewPr>
  <p:slideViewPr>
    <p:cSldViewPr snapToGrid="0" showGuides="1">
      <p:cViewPr varScale="1">
        <p:scale>
          <a:sx n="92" d="100"/>
          <a:sy n="92" d="100"/>
        </p:scale>
        <p:origin x="168" y="67"/>
      </p:cViewPr>
      <p:guideLst/>
    </p:cSldViewPr>
  </p:slideViewPr>
  <p:outlineViewPr>
    <p:cViewPr>
      <p:scale>
        <a:sx n="33" d="100"/>
        <a:sy n="33" d="100"/>
      </p:scale>
      <p:origin x="0" y="-58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22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4D5F6-3183-428A-85C8-51C26DD4B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08F93-CC89-4063-A187-7B1597877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A84C-EC3E-4598-9C4D-8CE1D2A956F5}" type="datetimeFigureOut">
              <a:rPr lang="en-GB" smtClean="0">
                <a:latin typeface="Arial" panose="020B0604020202020204" pitchFamily="34" charset="0"/>
              </a:rPr>
              <a:t>09/12/2025</a:t>
            </a:fld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D309-D941-4AA7-AD70-D334F1D59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9044-B362-4E47-A054-164531AC8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0F9D0-9E03-483D-AC3B-FCB5CBA393CA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0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C57A4BF-14E0-48E2-B42F-B29D277000AB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B5D948F-A673-4DC7-A0E9-FA274EAF36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1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948F-A673-4DC7-A0E9-FA274EAF3634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354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4E6626-FD7E-4C63-8D13-D66A8A348C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01C832-6FAC-40A0-BBA3-94F0E463DC45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470479"/>
            <a:ext cx="6350010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dirty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B30C48B-685A-4627-8230-DBBFCD3E60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74841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 text only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83A02BE-49C7-41EC-A224-F228B39F3B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4841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52717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1" y="1330126"/>
            <a:ext cx="10194470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 dirty="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 </a:t>
            </a: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8">
            <a:extLst>
              <a:ext uri="{FF2B5EF4-FFF2-40B4-BE49-F238E27FC236}">
                <a16:creationId xmlns:a16="http://schemas.microsoft.com/office/drawing/2014/main" id="{9CAB9EC7-F5E0-4684-A576-ECACF26F9022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6" r:id="rId2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 userDrawn="1">
          <p15:clr>
            <a:srgbClr val="F26B43"/>
          </p15:clr>
        </p15:guide>
        <p15:guide id="3" pos="7055" userDrawn="1">
          <p15:clr>
            <a:srgbClr val="F26B43"/>
          </p15:clr>
        </p15:guide>
        <p15:guide id="4" orient="horz" pos="838" userDrawn="1">
          <p15:clr>
            <a:srgbClr val="F26B43"/>
          </p15:clr>
        </p15:guide>
        <p15:guide id="5" orient="horz" pos="612" userDrawn="1">
          <p15:clr>
            <a:srgbClr val="F26B43"/>
          </p15:clr>
        </p15:guide>
        <p15:guide id="6" orient="horz" pos="272" userDrawn="1">
          <p15:clr>
            <a:srgbClr val="F26B43"/>
          </p15:clr>
        </p15:guide>
        <p15:guide id="7" orient="horz" pos="37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CF18-8E09-FAFE-34F6-7A35516A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0140C59-8CE8-2E59-6A17-94EA85E84429}"/>
              </a:ext>
            </a:extLst>
          </p:cNvPr>
          <p:cNvSpPr/>
          <p:nvPr/>
        </p:nvSpPr>
        <p:spPr>
          <a:xfrm>
            <a:off x="3468025" y="1429817"/>
            <a:ext cx="2410984" cy="877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3464C2E3-12D0-B794-05C2-963FFDD60225}"/>
              </a:ext>
            </a:extLst>
          </p:cNvPr>
          <p:cNvSpPr/>
          <p:nvPr/>
        </p:nvSpPr>
        <p:spPr>
          <a:xfrm>
            <a:off x="6160639" y="1429817"/>
            <a:ext cx="2410984" cy="8778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A12A4AB-625D-88CC-DCAD-9DB5C3667C2C}"/>
              </a:ext>
            </a:extLst>
          </p:cNvPr>
          <p:cNvSpPr/>
          <p:nvPr/>
        </p:nvSpPr>
        <p:spPr>
          <a:xfrm>
            <a:off x="8774817" y="1429817"/>
            <a:ext cx="2410984" cy="87786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2917EA1-3052-11FD-2FB0-3FBEE05102E5}"/>
              </a:ext>
            </a:extLst>
          </p:cNvPr>
          <p:cNvSpPr/>
          <p:nvPr/>
        </p:nvSpPr>
        <p:spPr>
          <a:xfrm>
            <a:off x="909908" y="1429817"/>
            <a:ext cx="2410984" cy="877869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38544-5F42-C7A2-773B-EEF31F85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b="1" dirty="0">
                <a:latin typeface="+mn-lt"/>
                <a:ea typeface="Meiryo UI" panose="020B0604030504040204" pitchFamily="50" charset="-128"/>
              </a:rPr>
              <a:t>AI COE</a:t>
            </a:r>
            <a:r>
              <a:rPr lang="ja-JP" altLang="en-US" sz="3600" b="1" dirty="0">
                <a:latin typeface="+mn-lt"/>
                <a:ea typeface="Meiryo UI" panose="020B0604030504040204" pitchFamily="50" charset="-128"/>
              </a:rPr>
              <a:t>活動骨子</a:t>
            </a:r>
            <a:endParaRPr lang="en-GB" sz="3600" b="1" dirty="0">
              <a:latin typeface="+mn-lt"/>
              <a:ea typeface="Meiryo UI" panose="020B0604030504040204" pitchFamily="50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97114-4652-94AB-B448-47B3D7BA99E6}"/>
              </a:ext>
            </a:extLst>
          </p:cNvPr>
          <p:cNvSpPr txBox="1"/>
          <p:nvPr/>
        </p:nvSpPr>
        <p:spPr>
          <a:xfrm>
            <a:off x="909908" y="978686"/>
            <a:ext cx="1107402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ミッション：</a:t>
            </a:r>
            <a:r>
              <a:rPr lang="en-US" altLang="ja-JP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時代のプロフェッショナル体験とクライアント体験を再定義し、その体験をメンバーファームに根付かせる。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3A1F9B-1A8D-0204-09DA-8D40AE2FEB4A}"/>
              </a:ext>
            </a:extLst>
          </p:cNvPr>
          <p:cNvSpPr txBox="1"/>
          <p:nvPr/>
        </p:nvSpPr>
        <p:spPr>
          <a:xfrm>
            <a:off x="998400" y="2508496"/>
            <a:ext cx="2232393" cy="3719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グローバルの</a:t>
            </a:r>
            <a:r>
              <a:rPr lang="en-US" altLang="ja-JP" sz="1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知見を的確に受け取り、</a:t>
            </a:r>
            <a:r>
              <a:rPr lang="en-US" altLang="ja-JP" sz="1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の業務・規制・文化に即して選択的に適用し、グローバルにフィードバックする。</a:t>
            </a:r>
            <a:endParaRPr lang="en-US" altLang="ja-JP" sz="1600" b="1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活動内容</a:t>
            </a:r>
            <a:endParaRPr lang="en-US" altLang="ja-JP" sz="1200" b="1" u="sng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グローバル知見のローカライズ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：　　受け取った知見を日本の実務・規制環境に合わせて検証し、適用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活動と課題の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内共有：　　　国内各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MF</a:t>
            </a: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の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活動を国内で共有し、特に課題を洗い出し、グローバルから支援を受ける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グローバルへのフィードバック：　　　国内で得た知見を簡潔なレポートでグローバルへフィードバック。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Graphic 11" descr="Bank with solid fill">
            <a:extLst>
              <a:ext uri="{FF2B5EF4-FFF2-40B4-BE49-F238E27FC236}">
                <a16:creationId xmlns:a16="http://schemas.microsoft.com/office/drawing/2014/main" id="{F501EA43-C8C4-F1CE-61D8-E8F0AA692B97}"/>
              </a:ext>
            </a:extLst>
          </p:cNvPr>
          <p:cNvSpPr/>
          <p:nvPr/>
        </p:nvSpPr>
        <p:spPr>
          <a:xfrm>
            <a:off x="1198462" y="1701969"/>
            <a:ext cx="407474" cy="386028"/>
          </a:xfrm>
          <a:custGeom>
            <a:avLst/>
            <a:gdLst>
              <a:gd name="connsiteX0" fmla="*/ 502367 w 553332"/>
              <a:gd name="connsiteY0" fmla="*/ 458683 h 524209"/>
              <a:gd name="connsiteX1" fmla="*/ 502367 w 553332"/>
              <a:gd name="connsiteY1" fmla="*/ 444122 h 524209"/>
              <a:gd name="connsiteX2" fmla="*/ 473245 w 553332"/>
              <a:gd name="connsiteY2" fmla="*/ 444122 h 524209"/>
              <a:gd name="connsiteX3" fmla="*/ 473245 w 553332"/>
              <a:gd name="connsiteY3" fmla="*/ 196579 h 524209"/>
              <a:gd name="connsiteX4" fmla="*/ 502367 w 553332"/>
              <a:gd name="connsiteY4" fmla="*/ 196579 h 524209"/>
              <a:gd name="connsiteX5" fmla="*/ 502367 w 553332"/>
              <a:gd name="connsiteY5" fmla="*/ 182017 h 524209"/>
              <a:gd name="connsiteX6" fmla="*/ 524210 w 553332"/>
              <a:gd name="connsiteY6" fmla="*/ 182017 h 524209"/>
              <a:gd name="connsiteX7" fmla="*/ 524210 w 553332"/>
              <a:gd name="connsiteY7" fmla="*/ 138333 h 524209"/>
              <a:gd name="connsiteX8" fmla="*/ 502367 w 553332"/>
              <a:gd name="connsiteY8" fmla="*/ 138333 h 524209"/>
              <a:gd name="connsiteX9" fmla="*/ 276666 w 553332"/>
              <a:gd name="connsiteY9" fmla="*/ 0 h 524209"/>
              <a:gd name="connsiteX10" fmla="*/ 50965 w 553332"/>
              <a:gd name="connsiteY10" fmla="*/ 138333 h 524209"/>
              <a:gd name="connsiteX11" fmla="*/ 29123 w 553332"/>
              <a:gd name="connsiteY11" fmla="*/ 138333 h 524209"/>
              <a:gd name="connsiteX12" fmla="*/ 29123 w 553332"/>
              <a:gd name="connsiteY12" fmla="*/ 182017 h 524209"/>
              <a:gd name="connsiteX13" fmla="*/ 50965 w 553332"/>
              <a:gd name="connsiteY13" fmla="*/ 182017 h 524209"/>
              <a:gd name="connsiteX14" fmla="*/ 50965 w 553332"/>
              <a:gd name="connsiteY14" fmla="*/ 196579 h 524209"/>
              <a:gd name="connsiteX15" fmla="*/ 80088 w 553332"/>
              <a:gd name="connsiteY15" fmla="*/ 196579 h 524209"/>
              <a:gd name="connsiteX16" fmla="*/ 80088 w 553332"/>
              <a:gd name="connsiteY16" fmla="*/ 444122 h 524209"/>
              <a:gd name="connsiteX17" fmla="*/ 50965 w 553332"/>
              <a:gd name="connsiteY17" fmla="*/ 444122 h 524209"/>
              <a:gd name="connsiteX18" fmla="*/ 50965 w 553332"/>
              <a:gd name="connsiteY18" fmla="*/ 458683 h 524209"/>
              <a:gd name="connsiteX19" fmla="*/ 0 w 553332"/>
              <a:gd name="connsiteY19" fmla="*/ 495087 h 524209"/>
              <a:gd name="connsiteX20" fmla="*/ 0 w 553332"/>
              <a:gd name="connsiteY20" fmla="*/ 524210 h 524209"/>
              <a:gd name="connsiteX21" fmla="*/ 276666 w 553332"/>
              <a:gd name="connsiteY21" fmla="*/ 524210 h 524209"/>
              <a:gd name="connsiteX22" fmla="*/ 553332 w 553332"/>
              <a:gd name="connsiteY22" fmla="*/ 524210 h 524209"/>
              <a:gd name="connsiteX23" fmla="*/ 553332 w 553332"/>
              <a:gd name="connsiteY23" fmla="*/ 495087 h 524209"/>
              <a:gd name="connsiteX24" fmla="*/ 502367 w 553332"/>
              <a:gd name="connsiteY24" fmla="*/ 458683 h 524209"/>
              <a:gd name="connsiteX25" fmla="*/ 167456 w 553332"/>
              <a:gd name="connsiteY25" fmla="*/ 444122 h 524209"/>
              <a:gd name="connsiteX26" fmla="*/ 123772 w 553332"/>
              <a:gd name="connsiteY26" fmla="*/ 444122 h 524209"/>
              <a:gd name="connsiteX27" fmla="*/ 123772 w 553332"/>
              <a:gd name="connsiteY27" fmla="*/ 196579 h 524209"/>
              <a:gd name="connsiteX28" fmla="*/ 167456 w 553332"/>
              <a:gd name="connsiteY28" fmla="*/ 196579 h 524209"/>
              <a:gd name="connsiteX29" fmla="*/ 167456 w 553332"/>
              <a:gd name="connsiteY29" fmla="*/ 444122 h 524209"/>
              <a:gd name="connsiteX30" fmla="*/ 254824 w 553332"/>
              <a:gd name="connsiteY30" fmla="*/ 444122 h 524209"/>
              <a:gd name="connsiteX31" fmla="*/ 211140 w 553332"/>
              <a:gd name="connsiteY31" fmla="*/ 444122 h 524209"/>
              <a:gd name="connsiteX32" fmla="*/ 211140 w 553332"/>
              <a:gd name="connsiteY32" fmla="*/ 196579 h 524209"/>
              <a:gd name="connsiteX33" fmla="*/ 254824 w 553332"/>
              <a:gd name="connsiteY33" fmla="*/ 196579 h 524209"/>
              <a:gd name="connsiteX34" fmla="*/ 254824 w 553332"/>
              <a:gd name="connsiteY34" fmla="*/ 444122 h 524209"/>
              <a:gd name="connsiteX35" fmla="*/ 269385 w 553332"/>
              <a:gd name="connsiteY35" fmla="*/ 123772 h 524209"/>
              <a:gd name="connsiteX36" fmla="*/ 240263 w 553332"/>
              <a:gd name="connsiteY36" fmla="*/ 94649 h 524209"/>
              <a:gd name="connsiteX37" fmla="*/ 269385 w 553332"/>
              <a:gd name="connsiteY37" fmla="*/ 65526 h 524209"/>
              <a:gd name="connsiteX38" fmla="*/ 298508 w 553332"/>
              <a:gd name="connsiteY38" fmla="*/ 94649 h 524209"/>
              <a:gd name="connsiteX39" fmla="*/ 269385 w 553332"/>
              <a:gd name="connsiteY39" fmla="*/ 123772 h 524209"/>
              <a:gd name="connsiteX40" fmla="*/ 342192 w 553332"/>
              <a:gd name="connsiteY40" fmla="*/ 444122 h 524209"/>
              <a:gd name="connsiteX41" fmla="*/ 298508 w 553332"/>
              <a:gd name="connsiteY41" fmla="*/ 444122 h 524209"/>
              <a:gd name="connsiteX42" fmla="*/ 298508 w 553332"/>
              <a:gd name="connsiteY42" fmla="*/ 196579 h 524209"/>
              <a:gd name="connsiteX43" fmla="*/ 342192 w 553332"/>
              <a:gd name="connsiteY43" fmla="*/ 196579 h 524209"/>
              <a:gd name="connsiteX44" fmla="*/ 342192 w 553332"/>
              <a:gd name="connsiteY44" fmla="*/ 444122 h 524209"/>
              <a:gd name="connsiteX45" fmla="*/ 429561 w 553332"/>
              <a:gd name="connsiteY45" fmla="*/ 444122 h 524209"/>
              <a:gd name="connsiteX46" fmla="*/ 385876 w 553332"/>
              <a:gd name="connsiteY46" fmla="*/ 444122 h 524209"/>
              <a:gd name="connsiteX47" fmla="*/ 385876 w 553332"/>
              <a:gd name="connsiteY47" fmla="*/ 196579 h 524209"/>
              <a:gd name="connsiteX48" fmla="*/ 429561 w 553332"/>
              <a:gd name="connsiteY48" fmla="*/ 196579 h 524209"/>
              <a:gd name="connsiteX49" fmla="*/ 429561 w 553332"/>
              <a:gd name="connsiteY49" fmla="*/ 444122 h 52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553332" h="524209">
                <a:moveTo>
                  <a:pt x="502367" y="458683"/>
                </a:moveTo>
                <a:lnTo>
                  <a:pt x="502367" y="444122"/>
                </a:lnTo>
                <a:lnTo>
                  <a:pt x="473245" y="444122"/>
                </a:lnTo>
                <a:lnTo>
                  <a:pt x="473245" y="196579"/>
                </a:lnTo>
                <a:lnTo>
                  <a:pt x="502367" y="196579"/>
                </a:lnTo>
                <a:lnTo>
                  <a:pt x="502367" y="182017"/>
                </a:lnTo>
                <a:lnTo>
                  <a:pt x="524210" y="182017"/>
                </a:lnTo>
                <a:lnTo>
                  <a:pt x="524210" y="138333"/>
                </a:lnTo>
                <a:lnTo>
                  <a:pt x="502367" y="138333"/>
                </a:lnTo>
                <a:lnTo>
                  <a:pt x="276666" y="0"/>
                </a:lnTo>
                <a:lnTo>
                  <a:pt x="50965" y="138333"/>
                </a:lnTo>
                <a:lnTo>
                  <a:pt x="29123" y="138333"/>
                </a:lnTo>
                <a:lnTo>
                  <a:pt x="29123" y="182017"/>
                </a:lnTo>
                <a:lnTo>
                  <a:pt x="50965" y="182017"/>
                </a:lnTo>
                <a:lnTo>
                  <a:pt x="50965" y="196579"/>
                </a:lnTo>
                <a:lnTo>
                  <a:pt x="80088" y="196579"/>
                </a:lnTo>
                <a:lnTo>
                  <a:pt x="80088" y="444122"/>
                </a:lnTo>
                <a:lnTo>
                  <a:pt x="50965" y="444122"/>
                </a:lnTo>
                <a:lnTo>
                  <a:pt x="50965" y="458683"/>
                </a:lnTo>
                <a:lnTo>
                  <a:pt x="0" y="495087"/>
                </a:lnTo>
                <a:lnTo>
                  <a:pt x="0" y="524210"/>
                </a:lnTo>
                <a:lnTo>
                  <a:pt x="276666" y="524210"/>
                </a:lnTo>
                <a:lnTo>
                  <a:pt x="553332" y="524210"/>
                </a:lnTo>
                <a:lnTo>
                  <a:pt x="553332" y="495087"/>
                </a:lnTo>
                <a:lnTo>
                  <a:pt x="502367" y="458683"/>
                </a:lnTo>
                <a:close/>
                <a:moveTo>
                  <a:pt x="167456" y="444122"/>
                </a:moveTo>
                <a:lnTo>
                  <a:pt x="123772" y="444122"/>
                </a:lnTo>
                <a:lnTo>
                  <a:pt x="123772" y="196579"/>
                </a:lnTo>
                <a:lnTo>
                  <a:pt x="167456" y="196579"/>
                </a:lnTo>
                <a:lnTo>
                  <a:pt x="167456" y="444122"/>
                </a:lnTo>
                <a:close/>
                <a:moveTo>
                  <a:pt x="254824" y="444122"/>
                </a:moveTo>
                <a:lnTo>
                  <a:pt x="211140" y="444122"/>
                </a:lnTo>
                <a:lnTo>
                  <a:pt x="211140" y="196579"/>
                </a:lnTo>
                <a:lnTo>
                  <a:pt x="254824" y="196579"/>
                </a:lnTo>
                <a:lnTo>
                  <a:pt x="254824" y="444122"/>
                </a:lnTo>
                <a:close/>
                <a:moveTo>
                  <a:pt x="269385" y="123772"/>
                </a:moveTo>
                <a:cubicBezTo>
                  <a:pt x="253368" y="123772"/>
                  <a:pt x="240263" y="110666"/>
                  <a:pt x="240263" y="94649"/>
                </a:cubicBezTo>
                <a:cubicBezTo>
                  <a:pt x="240263" y="78631"/>
                  <a:pt x="253368" y="65526"/>
                  <a:pt x="269385" y="65526"/>
                </a:cubicBezTo>
                <a:cubicBezTo>
                  <a:pt x="285403" y="65526"/>
                  <a:pt x="298508" y="78631"/>
                  <a:pt x="298508" y="94649"/>
                </a:cubicBezTo>
                <a:cubicBezTo>
                  <a:pt x="298508" y="110666"/>
                  <a:pt x="285403" y="123772"/>
                  <a:pt x="269385" y="123772"/>
                </a:cubicBezTo>
                <a:close/>
                <a:moveTo>
                  <a:pt x="342192" y="444122"/>
                </a:moveTo>
                <a:lnTo>
                  <a:pt x="298508" y="444122"/>
                </a:lnTo>
                <a:lnTo>
                  <a:pt x="298508" y="196579"/>
                </a:lnTo>
                <a:lnTo>
                  <a:pt x="342192" y="196579"/>
                </a:lnTo>
                <a:lnTo>
                  <a:pt x="342192" y="444122"/>
                </a:lnTo>
                <a:close/>
                <a:moveTo>
                  <a:pt x="429561" y="444122"/>
                </a:moveTo>
                <a:lnTo>
                  <a:pt x="385876" y="444122"/>
                </a:lnTo>
                <a:lnTo>
                  <a:pt x="385876" y="196579"/>
                </a:lnTo>
                <a:lnTo>
                  <a:pt x="429561" y="196579"/>
                </a:lnTo>
                <a:lnTo>
                  <a:pt x="429561" y="444122"/>
                </a:lnTo>
                <a:close/>
              </a:path>
            </a:pathLst>
          </a:custGeom>
          <a:solidFill>
            <a:schemeClr val="bg1"/>
          </a:solidFill>
          <a:ln w="72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9" name="Group 48" descr="Icon address book">
            <a:extLst>
              <a:ext uri="{FF2B5EF4-FFF2-40B4-BE49-F238E27FC236}">
                <a16:creationId xmlns:a16="http://schemas.microsoft.com/office/drawing/2014/main" id="{CFB633B0-FEF5-CA8C-785C-ADAEFE80677E}"/>
              </a:ext>
            </a:extLst>
          </p:cNvPr>
          <p:cNvGrpSpPr/>
          <p:nvPr/>
        </p:nvGrpSpPr>
        <p:grpSpPr>
          <a:xfrm>
            <a:off x="3858869" y="1701969"/>
            <a:ext cx="318212" cy="386028"/>
            <a:chOff x="6524311" y="1621955"/>
            <a:chExt cx="444122" cy="538770"/>
          </a:xfrm>
          <a:solidFill>
            <a:schemeClr val="bg1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E58105A-D5F7-750C-11AA-E07813C970F7}"/>
                </a:ext>
              </a:extLst>
            </p:cNvPr>
            <p:cNvSpPr/>
            <p:nvPr/>
          </p:nvSpPr>
          <p:spPr>
            <a:xfrm>
              <a:off x="6924749" y="1621955"/>
              <a:ext cx="43684" cy="538770"/>
            </a:xfrm>
            <a:custGeom>
              <a:avLst/>
              <a:gdLst>
                <a:gd name="connsiteX0" fmla="*/ 0 w 43684"/>
                <a:gd name="connsiteY0" fmla="*/ 0 h 538770"/>
                <a:gd name="connsiteX1" fmla="*/ 43684 w 43684"/>
                <a:gd name="connsiteY1" fmla="*/ 0 h 538770"/>
                <a:gd name="connsiteX2" fmla="*/ 43684 w 43684"/>
                <a:gd name="connsiteY2" fmla="*/ 538771 h 538770"/>
                <a:gd name="connsiteX3" fmla="*/ 0 w 43684"/>
                <a:gd name="connsiteY3" fmla="*/ 538771 h 538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84" h="538770">
                  <a:moveTo>
                    <a:pt x="0" y="0"/>
                  </a:moveTo>
                  <a:lnTo>
                    <a:pt x="43684" y="0"/>
                  </a:lnTo>
                  <a:lnTo>
                    <a:pt x="43684" y="538771"/>
                  </a:lnTo>
                  <a:lnTo>
                    <a:pt x="0" y="538771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D3F277F-5766-9525-38F4-6AF9B2EB958D}"/>
                </a:ext>
              </a:extLst>
            </p:cNvPr>
            <p:cNvSpPr/>
            <p:nvPr/>
          </p:nvSpPr>
          <p:spPr>
            <a:xfrm>
              <a:off x="6524311" y="1621955"/>
              <a:ext cx="371315" cy="538770"/>
            </a:xfrm>
            <a:custGeom>
              <a:avLst/>
              <a:gdLst>
                <a:gd name="connsiteX0" fmla="*/ 0 w 371315"/>
                <a:gd name="connsiteY0" fmla="*/ 29123 h 538770"/>
                <a:gd name="connsiteX1" fmla="*/ 0 w 371315"/>
                <a:gd name="connsiteY1" fmla="*/ 509648 h 538770"/>
                <a:gd name="connsiteX2" fmla="*/ 29123 w 371315"/>
                <a:gd name="connsiteY2" fmla="*/ 538771 h 538770"/>
                <a:gd name="connsiteX3" fmla="*/ 371315 w 371315"/>
                <a:gd name="connsiteY3" fmla="*/ 538771 h 538770"/>
                <a:gd name="connsiteX4" fmla="*/ 371315 w 371315"/>
                <a:gd name="connsiteY4" fmla="*/ 0 h 538770"/>
                <a:gd name="connsiteX5" fmla="*/ 29123 w 371315"/>
                <a:gd name="connsiteY5" fmla="*/ 0 h 538770"/>
                <a:gd name="connsiteX6" fmla="*/ 0 w 371315"/>
                <a:gd name="connsiteY6" fmla="*/ 29123 h 538770"/>
                <a:gd name="connsiteX7" fmla="*/ 191482 w 371315"/>
                <a:gd name="connsiteY7" fmla="*/ 259921 h 538770"/>
                <a:gd name="connsiteX8" fmla="*/ 136149 w 371315"/>
                <a:gd name="connsiteY8" fmla="*/ 204587 h 538770"/>
                <a:gd name="connsiteX9" fmla="*/ 191482 w 371315"/>
                <a:gd name="connsiteY9" fmla="*/ 149254 h 538770"/>
                <a:gd name="connsiteX10" fmla="*/ 246815 w 371315"/>
                <a:gd name="connsiteY10" fmla="*/ 204587 h 538770"/>
                <a:gd name="connsiteX11" fmla="*/ 191482 w 371315"/>
                <a:gd name="connsiteY11" fmla="*/ 259921 h 538770"/>
                <a:gd name="connsiteX12" fmla="*/ 80088 w 371315"/>
                <a:gd name="connsiteY12" fmla="*/ 330543 h 538770"/>
                <a:gd name="connsiteX13" fmla="*/ 91009 w 371315"/>
                <a:gd name="connsiteY13" fmla="*/ 307973 h 538770"/>
                <a:gd name="connsiteX14" fmla="*/ 145614 w 371315"/>
                <a:gd name="connsiteY14" fmla="*/ 281763 h 538770"/>
                <a:gd name="connsiteX15" fmla="*/ 191482 w 371315"/>
                <a:gd name="connsiteY15" fmla="*/ 274482 h 538770"/>
                <a:gd name="connsiteX16" fmla="*/ 237350 w 371315"/>
                <a:gd name="connsiteY16" fmla="*/ 281763 h 538770"/>
                <a:gd name="connsiteX17" fmla="*/ 291956 w 371315"/>
                <a:gd name="connsiteY17" fmla="*/ 307973 h 538770"/>
                <a:gd name="connsiteX18" fmla="*/ 302877 w 371315"/>
                <a:gd name="connsiteY18" fmla="*/ 330543 h 538770"/>
                <a:gd name="connsiteX19" fmla="*/ 302877 w 371315"/>
                <a:gd name="connsiteY19" fmla="*/ 385876 h 538770"/>
                <a:gd name="connsiteX20" fmla="*/ 80088 w 371315"/>
                <a:gd name="connsiteY20" fmla="*/ 385876 h 538770"/>
                <a:gd name="connsiteX21" fmla="*/ 80088 w 371315"/>
                <a:gd name="connsiteY21" fmla="*/ 330543 h 538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71315" h="538770">
                  <a:moveTo>
                    <a:pt x="0" y="29123"/>
                  </a:moveTo>
                  <a:lnTo>
                    <a:pt x="0" y="509648"/>
                  </a:lnTo>
                  <a:cubicBezTo>
                    <a:pt x="0" y="525666"/>
                    <a:pt x="13105" y="538771"/>
                    <a:pt x="29123" y="538771"/>
                  </a:cubicBezTo>
                  <a:lnTo>
                    <a:pt x="371315" y="538771"/>
                  </a:lnTo>
                  <a:lnTo>
                    <a:pt x="371315" y="0"/>
                  </a:lnTo>
                  <a:lnTo>
                    <a:pt x="29123" y="0"/>
                  </a:lnTo>
                  <a:cubicBezTo>
                    <a:pt x="13105" y="0"/>
                    <a:pt x="0" y="13105"/>
                    <a:pt x="0" y="29123"/>
                  </a:cubicBezTo>
                  <a:close/>
                  <a:moveTo>
                    <a:pt x="191482" y="259921"/>
                  </a:moveTo>
                  <a:cubicBezTo>
                    <a:pt x="160903" y="259921"/>
                    <a:pt x="136149" y="235166"/>
                    <a:pt x="136149" y="204587"/>
                  </a:cubicBezTo>
                  <a:cubicBezTo>
                    <a:pt x="136149" y="174008"/>
                    <a:pt x="160903" y="149254"/>
                    <a:pt x="191482" y="149254"/>
                  </a:cubicBezTo>
                  <a:cubicBezTo>
                    <a:pt x="222061" y="149254"/>
                    <a:pt x="246815" y="174008"/>
                    <a:pt x="246815" y="204587"/>
                  </a:cubicBezTo>
                  <a:cubicBezTo>
                    <a:pt x="246815" y="235894"/>
                    <a:pt x="222061" y="259921"/>
                    <a:pt x="191482" y="259921"/>
                  </a:cubicBezTo>
                  <a:close/>
                  <a:moveTo>
                    <a:pt x="80088" y="330543"/>
                  </a:moveTo>
                  <a:cubicBezTo>
                    <a:pt x="80088" y="321806"/>
                    <a:pt x="84456" y="313070"/>
                    <a:pt x="91009" y="307973"/>
                  </a:cubicBezTo>
                  <a:cubicBezTo>
                    <a:pt x="107754" y="295596"/>
                    <a:pt x="125956" y="286859"/>
                    <a:pt x="145614" y="281763"/>
                  </a:cubicBezTo>
                  <a:cubicBezTo>
                    <a:pt x="160175" y="276666"/>
                    <a:pt x="176193" y="274482"/>
                    <a:pt x="191482" y="274482"/>
                  </a:cubicBezTo>
                  <a:cubicBezTo>
                    <a:pt x="206772" y="275210"/>
                    <a:pt x="222061" y="277394"/>
                    <a:pt x="237350" y="281763"/>
                  </a:cubicBezTo>
                  <a:cubicBezTo>
                    <a:pt x="257008" y="286859"/>
                    <a:pt x="275210" y="296324"/>
                    <a:pt x="291956" y="307973"/>
                  </a:cubicBezTo>
                  <a:cubicBezTo>
                    <a:pt x="298508" y="313798"/>
                    <a:pt x="302877" y="321806"/>
                    <a:pt x="302877" y="330543"/>
                  </a:cubicBezTo>
                  <a:lnTo>
                    <a:pt x="302877" y="385876"/>
                  </a:lnTo>
                  <a:lnTo>
                    <a:pt x="80088" y="385876"/>
                  </a:lnTo>
                  <a:lnTo>
                    <a:pt x="80088" y="330543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EBD4F7-C550-3232-8689-66F1E51D7D5D}"/>
              </a:ext>
            </a:extLst>
          </p:cNvPr>
          <p:cNvGrpSpPr/>
          <p:nvPr/>
        </p:nvGrpSpPr>
        <p:grpSpPr>
          <a:xfrm>
            <a:off x="6454719" y="1728493"/>
            <a:ext cx="383286" cy="332980"/>
            <a:chOff x="765945" y="7535993"/>
            <a:chExt cx="582455" cy="506008"/>
          </a:xfrm>
          <a:solidFill>
            <a:schemeClr val="bg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A369D4C-1AFF-9EE1-06EB-5BDF89C665FA}"/>
                </a:ext>
              </a:extLst>
            </p:cNvPr>
            <p:cNvSpPr/>
            <p:nvPr/>
          </p:nvSpPr>
          <p:spPr>
            <a:xfrm>
              <a:off x="765945" y="7809019"/>
              <a:ext cx="582455" cy="232982"/>
            </a:xfrm>
            <a:custGeom>
              <a:avLst/>
              <a:gdLst>
                <a:gd name="connsiteX0" fmla="*/ 334912 w 582455"/>
                <a:gd name="connsiteY0" fmla="*/ 14561 h 232982"/>
                <a:gd name="connsiteX1" fmla="*/ 305789 w 582455"/>
                <a:gd name="connsiteY1" fmla="*/ 43684 h 232982"/>
                <a:gd name="connsiteX2" fmla="*/ 276666 w 582455"/>
                <a:gd name="connsiteY2" fmla="*/ 43684 h 232982"/>
                <a:gd name="connsiteX3" fmla="*/ 247543 w 582455"/>
                <a:gd name="connsiteY3" fmla="*/ 14561 h 232982"/>
                <a:gd name="connsiteX4" fmla="*/ 247543 w 582455"/>
                <a:gd name="connsiteY4" fmla="*/ 0 h 232982"/>
                <a:gd name="connsiteX5" fmla="*/ 0 w 582455"/>
                <a:gd name="connsiteY5" fmla="*/ 0 h 232982"/>
                <a:gd name="connsiteX6" fmla="*/ 0 w 582455"/>
                <a:gd name="connsiteY6" fmla="*/ 203859 h 232982"/>
                <a:gd name="connsiteX7" fmla="*/ 29123 w 582455"/>
                <a:gd name="connsiteY7" fmla="*/ 232982 h 232982"/>
                <a:gd name="connsiteX8" fmla="*/ 553332 w 582455"/>
                <a:gd name="connsiteY8" fmla="*/ 232982 h 232982"/>
                <a:gd name="connsiteX9" fmla="*/ 582455 w 582455"/>
                <a:gd name="connsiteY9" fmla="*/ 203859 h 232982"/>
                <a:gd name="connsiteX10" fmla="*/ 582455 w 582455"/>
                <a:gd name="connsiteY10" fmla="*/ 0 h 232982"/>
                <a:gd name="connsiteX11" fmla="*/ 334912 w 582455"/>
                <a:gd name="connsiteY11" fmla="*/ 0 h 232982"/>
                <a:gd name="connsiteX12" fmla="*/ 334912 w 582455"/>
                <a:gd name="connsiteY12" fmla="*/ 14561 h 232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2455" h="232982">
                  <a:moveTo>
                    <a:pt x="334912" y="14561"/>
                  </a:moveTo>
                  <a:cubicBezTo>
                    <a:pt x="334912" y="30579"/>
                    <a:pt x="321806" y="43684"/>
                    <a:pt x="305789" y="43684"/>
                  </a:cubicBezTo>
                  <a:lnTo>
                    <a:pt x="276666" y="43684"/>
                  </a:lnTo>
                  <a:cubicBezTo>
                    <a:pt x="260649" y="43684"/>
                    <a:pt x="247543" y="30579"/>
                    <a:pt x="247543" y="14561"/>
                  </a:cubicBezTo>
                  <a:lnTo>
                    <a:pt x="247543" y="0"/>
                  </a:lnTo>
                  <a:lnTo>
                    <a:pt x="0" y="0"/>
                  </a:lnTo>
                  <a:lnTo>
                    <a:pt x="0" y="203859"/>
                  </a:lnTo>
                  <a:cubicBezTo>
                    <a:pt x="0" y="219877"/>
                    <a:pt x="13105" y="232982"/>
                    <a:pt x="29123" y="232982"/>
                  </a:cubicBezTo>
                  <a:lnTo>
                    <a:pt x="553332" y="232982"/>
                  </a:lnTo>
                  <a:cubicBezTo>
                    <a:pt x="569350" y="232982"/>
                    <a:pt x="582455" y="219877"/>
                    <a:pt x="582455" y="203859"/>
                  </a:cubicBezTo>
                  <a:lnTo>
                    <a:pt x="582455" y="0"/>
                  </a:lnTo>
                  <a:lnTo>
                    <a:pt x="334912" y="0"/>
                  </a:lnTo>
                  <a:lnTo>
                    <a:pt x="334912" y="14561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CCC28D7-71E9-07D3-DE50-E9B5046F8995}"/>
                </a:ext>
              </a:extLst>
            </p:cNvPr>
            <p:cNvSpPr/>
            <p:nvPr/>
          </p:nvSpPr>
          <p:spPr>
            <a:xfrm>
              <a:off x="765945" y="7535993"/>
              <a:ext cx="582455" cy="243903"/>
            </a:xfrm>
            <a:custGeom>
              <a:avLst/>
              <a:gdLst>
                <a:gd name="connsiteX0" fmla="*/ 553332 w 582455"/>
                <a:gd name="connsiteY0" fmla="*/ 98289 h 243903"/>
                <a:gd name="connsiteX1" fmla="*/ 407719 w 582455"/>
                <a:gd name="connsiteY1" fmla="*/ 98289 h 243903"/>
                <a:gd name="connsiteX2" fmla="*/ 407719 w 582455"/>
                <a:gd name="connsiteY2" fmla="*/ 50965 h 243903"/>
                <a:gd name="connsiteX3" fmla="*/ 356754 w 582455"/>
                <a:gd name="connsiteY3" fmla="*/ 0 h 243903"/>
                <a:gd name="connsiteX4" fmla="*/ 225701 w 582455"/>
                <a:gd name="connsiteY4" fmla="*/ 0 h 243903"/>
                <a:gd name="connsiteX5" fmla="*/ 174737 w 582455"/>
                <a:gd name="connsiteY5" fmla="*/ 50965 h 243903"/>
                <a:gd name="connsiteX6" fmla="*/ 174737 w 582455"/>
                <a:gd name="connsiteY6" fmla="*/ 98289 h 243903"/>
                <a:gd name="connsiteX7" fmla="*/ 29123 w 582455"/>
                <a:gd name="connsiteY7" fmla="*/ 98289 h 243903"/>
                <a:gd name="connsiteX8" fmla="*/ 0 w 582455"/>
                <a:gd name="connsiteY8" fmla="*/ 127412 h 243903"/>
                <a:gd name="connsiteX9" fmla="*/ 0 w 582455"/>
                <a:gd name="connsiteY9" fmla="*/ 243903 h 243903"/>
                <a:gd name="connsiteX10" fmla="*/ 247543 w 582455"/>
                <a:gd name="connsiteY10" fmla="*/ 243903 h 243903"/>
                <a:gd name="connsiteX11" fmla="*/ 247543 w 582455"/>
                <a:gd name="connsiteY11" fmla="*/ 229342 h 243903"/>
                <a:gd name="connsiteX12" fmla="*/ 334912 w 582455"/>
                <a:gd name="connsiteY12" fmla="*/ 229342 h 243903"/>
                <a:gd name="connsiteX13" fmla="*/ 334912 w 582455"/>
                <a:gd name="connsiteY13" fmla="*/ 243903 h 243903"/>
                <a:gd name="connsiteX14" fmla="*/ 582455 w 582455"/>
                <a:gd name="connsiteY14" fmla="*/ 243903 h 243903"/>
                <a:gd name="connsiteX15" fmla="*/ 582455 w 582455"/>
                <a:gd name="connsiteY15" fmla="*/ 127412 h 243903"/>
                <a:gd name="connsiteX16" fmla="*/ 553332 w 582455"/>
                <a:gd name="connsiteY16" fmla="*/ 98289 h 243903"/>
                <a:gd name="connsiteX17" fmla="*/ 218421 w 582455"/>
                <a:gd name="connsiteY17" fmla="*/ 98289 h 243903"/>
                <a:gd name="connsiteX18" fmla="*/ 218421 w 582455"/>
                <a:gd name="connsiteY18" fmla="*/ 50965 h 243903"/>
                <a:gd name="connsiteX19" fmla="*/ 225701 w 582455"/>
                <a:gd name="connsiteY19" fmla="*/ 43684 h 243903"/>
                <a:gd name="connsiteX20" fmla="*/ 356754 w 582455"/>
                <a:gd name="connsiteY20" fmla="*/ 43684 h 243903"/>
                <a:gd name="connsiteX21" fmla="*/ 364034 w 582455"/>
                <a:gd name="connsiteY21" fmla="*/ 50965 h 243903"/>
                <a:gd name="connsiteX22" fmla="*/ 364034 w 582455"/>
                <a:gd name="connsiteY22" fmla="*/ 98289 h 243903"/>
                <a:gd name="connsiteX23" fmla="*/ 218421 w 582455"/>
                <a:gd name="connsiteY23" fmla="*/ 98289 h 24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2455" h="243903">
                  <a:moveTo>
                    <a:pt x="553332" y="98289"/>
                  </a:moveTo>
                  <a:lnTo>
                    <a:pt x="407719" y="98289"/>
                  </a:lnTo>
                  <a:lnTo>
                    <a:pt x="407719" y="50965"/>
                  </a:lnTo>
                  <a:cubicBezTo>
                    <a:pt x="407719" y="22570"/>
                    <a:pt x="385148" y="0"/>
                    <a:pt x="356754" y="0"/>
                  </a:cubicBezTo>
                  <a:lnTo>
                    <a:pt x="225701" y="0"/>
                  </a:lnTo>
                  <a:cubicBezTo>
                    <a:pt x="197307" y="0"/>
                    <a:pt x="174737" y="22570"/>
                    <a:pt x="174737" y="50965"/>
                  </a:cubicBezTo>
                  <a:lnTo>
                    <a:pt x="174737" y="98289"/>
                  </a:lnTo>
                  <a:lnTo>
                    <a:pt x="29123" y="98289"/>
                  </a:lnTo>
                  <a:cubicBezTo>
                    <a:pt x="13105" y="98289"/>
                    <a:pt x="0" y="111395"/>
                    <a:pt x="0" y="127412"/>
                  </a:cubicBezTo>
                  <a:lnTo>
                    <a:pt x="0" y="243903"/>
                  </a:lnTo>
                  <a:lnTo>
                    <a:pt x="247543" y="243903"/>
                  </a:lnTo>
                  <a:lnTo>
                    <a:pt x="247543" y="229342"/>
                  </a:lnTo>
                  <a:lnTo>
                    <a:pt x="334912" y="229342"/>
                  </a:lnTo>
                  <a:lnTo>
                    <a:pt x="334912" y="243903"/>
                  </a:lnTo>
                  <a:lnTo>
                    <a:pt x="582455" y="243903"/>
                  </a:lnTo>
                  <a:lnTo>
                    <a:pt x="582455" y="127412"/>
                  </a:lnTo>
                  <a:cubicBezTo>
                    <a:pt x="582455" y="111395"/>
                    <a:pt x="569350" y="98289"/>
                    <a:pt x="553332" y="98289"/>
                  </a:cubicBezTo>
                  <a:moveTo>
                    <a:pt x="218421" y="98289"/>
                  </a:moveTo>
                  <a:lnTo>
                    <a:pt x="218421" y="50965"/>
                  </a:lnTo>
                  <a:cubicBezTo>
                    <a:pt x="218421" y="46596"/>
                    <a:pt x="221333" y="43684"/>
                    <a:pt x="225701" y="43684"/>
                  </a:cubicBezTo>
                  <a:lnTo>
                    <a:pt x="356754" y="43684"/>
                  </a:lnTo>
                  <a:cubicBezTo>
                    <a:pt x="361122" y="43684"/>
                    <a:pt x="364034" y="46596"/>
                    <a:pt x="364034" y="50965"/>
                  </a:cubicBezTo>
                  <a:lnTo>
                    <a:pt x="364034" y="98289"/>
                  </a:lnTo>
                  <a:lnTo>
                    <a:pt x="218421" y="98289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C24163A-1B43-9F54-46C4-CBAFFA631516}"/>
              </a:ext>
            </a:extLst>
          </p:cNvPr>
          <p:cNvGrpSpPr/>
          <p:nvPr/>
        </p:nvGrpSpPr>
        <p:grpSpPr>
          <a:xfrm>
            <a:off x="9080991" y="1701225"/>
            <a:ext cx="387516" cy="387516"/>
            <a:chOff x="2178173" y="7523647"/>
            <a:chExt cx="495086" cy="495086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A106BEF-8299-2DE3-FCBE-834ED2E2829F}"/>
                </a:ext>
              </a:extLst>
            </p:cNvPr>
            <p:cNvSpPr/>
            <p:nvPr/>
          </p:nvSpPr>
          <p:spPr>
            <a:xfrm>
              <a:off x="2178173" y="7523647"/>
              <a:ext cx="495086" cy="495086"/>
            </a:xfrm>
            <a:custGeom>
              <a:avLst/>
              <a:gdLst>
                <a:gd name="connsiteX0" fmla="*/ 43684 w 495086"/>
                <a:gd name="connsiteY0" fmla="*/ 0 h 495086"/>
                <a:gd name="connsiteX1" fmla="*/ 0 w 495086"/>
                <a:gd name="connsiteY1" fmla="*/ 0 h 495086"/>
                <a:gd name="connsiteX2" fmla="*/ 0 w 495086"/>
                <a:gd name="connsiteY2" fmla="*/ 495087 h 495086"/>
                <a:gd name="connsiteX3" fmla="*/ 495087 w 495086"/>
                <a:gd name="connsiteY3" fmla="*/ 495087 h 495086"/>
                <a:gd name="connsiteX4" fmla="*/ 495087 w 495086"/>
                <a:gd name="connsiteY4" fmla="*/ 451403 h 495086"/>
                <a:gd name="connsiteX5" fmla="*/ 43684 w 495086"/>
                <a:gd name="connsiteY5" fmla="*/ 451403 h 49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5086" h="495086">
                  <a:moveTo>
                    <a:pt x="43684" y="0"/>
                  </a:moveTo>
                  <a:lnTo>
                    <a:pt x="0" y="0"/>
                  </a:lnTo>
                  <a:lnTo>
                    <a:pt x="0" y="495087"/>
                  </a:lnTo>
                  <a:lnTo>
                    <a:pt x="495087" y="495087"/>
                  </a:lnTo>
                  <a:lnTo>
                    <a:pt x="495087" y="451403"/>
                  </a:lnTo>
                  <a:lnTo>
                    <a:pt x="43684" y="451403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E1B703B-5E96-3DE2-BC77-491B0277FA82}"/>
                </a:ext>
              </a:extLst>
            </p:cNvPr>
            <p:cNvSpPr/>
            <p:nvPr/>
          </p:nvSpPr>
          <p:spPr>
            <a:xfrm>
              <a:off x="2265541" y="7676542"/>
              <a:ext cx="80087" cy="254824"/>
            </a:xfrm>
            <a:custGeom>
              <a:avLst/>
              <a:gdLst>
                <a:gd name="connsiteX0" fmla="*/ 0 w 80087"/>
                <a:gd name="connsiteY0" fmla="*/ 0 h 254824"/>
                <a:gd name="connsiteX1" fmla="*/ 80088 w 80087"/>
                <a:gd name="connsiteY1" fmla="*/ 0 h 254824"/>
                <a:gd name="connsiteX2" fmla="*/ 80088 w 80087"/>
                <a:gd name="connsiteY2" fmla="*/ 254824 h 254824"/>
                <a:gd name="connsiteX3" fmla="*/ 0 w 80087"/>
                <a:gd name="connsiteY3" fmla="*/ 254824 h 25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254824">
                  <a:moveTo>
                    <a:pt x="0" y="0"/>
                  </a:moveTo>
                  <a:lnTo>
                    <a:pt x="80088" y="0"/>
                  </a:lnTo>
                  <a:lnTo>
                    <a:pt x="80088" y="254824"/>
                  </a:lnTo>
                  <a:lnTo>
                    <a:pt x="0" y="254824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D1256A1-4BD4-E15D-0F5B-C090D6ECCB09}"/>
                </a:ext>
              </a:extLst>
            </p:cNvPr>
            <p:cNvSpPr/>
            <p:nvPr/>
          </p:nvSpPr>
          <p:spPr>
            <a:xfrm>
              <a:off x="2374752" y="7523647"/>
              <a:ext cx="80087" cy="407718"/>
            </a:xfrm>
            <a:custGeom>
              <a:avLst/>
              <a:gdLst>
                <a:gd name="connsiteX0" fmla="*/ 0 w 80087"/>
                <a:gd name="connsiteY0" fmla="*/ 0 h 407718"/>
                <a:gd name="connsiteX1" fmla="*/ 80088 w 80087"/>
                <a:gd name="connsiteY1" fmla="*/ 0 h 407718"/>
                <a:gd name="connsiteX2" fmla="*/ 80088 w 80087"/>
                <a:gd name="connsiteY2" fmla="*/ 407719 h 407718"/>
                <a:gd name="connsiteX3" fmla="*/ 0 w 80087"/>
                <a:gd name="connsiteY3" fmla="*/ 407719 h 40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407718">
                  <a:moveTo>
                    <a:pt x="0" y="0"/>
                  </a:moveTo>
                  <a:lnTo>
                    <a:pt x="80088" y="0"/>
                  </a:lnTo>
                  <a:lnTo>
                    <a:pt x="80088" y="407719"/>
                  </a:lnTo>
                  <a:lnTo>
                    <a:pt x="0" y="407719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F65E02D-368D-514E-0481-C5D6FA601D5E}"/>
                </a:ext>
              </a:extLst>
            </p:cNvPr>
            <p:cNvSpPr/>
            <p:nvPr/>
          </p:nvSpPr>
          <p:spPr>
            <a:xfrm>
              <a:off x="2483962" y="7676542"/>
              <a:ext cx="80087" cy="254824"/>
            </a:xfrm>
            <a:custGeom>
              <a:avLst/>
              <a:gdLst>
                <a:gd name="connsiteX0" fmla="*/ 0 w 80087"/>
                <a:gd name="connsiteY0" fmla="*/ 0 h 254824"/>
                <a:gd name="connsiteX1" fmla="*/ 80088 w 80087"/>
                <a:gd name="connsiteY1" fmla="*/ 0 h 254824"/>
                <a:gd name="connsiteX2" fmla="*/ 80088 w 80087"/>
                <a:gd name="connsiteY2" fmla="*/ 254824 h 254824"/>
                <a:gd name="connsiteX3" fmla="*/ 0 w 80087"/>
                <a:gd name="connsiteY3" fmla="*/ 254824 h 25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254824">
                  <a:moveTo>
                    <a:pt x="0" y="0"/>
                  </a:moveTo>
                  <a:lnTo>
                    <a:pt x="80088" y="0"/>
                  </a:lnTo>
                  <a:lnTo>
                    <a:pt x="80088" y="254824"/>
                  </a:lnTo>
                  <a:lnTo>
                    <a:pt x="0" y="254824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7EBDC2F-5C22-85C6-8659-F51505B63830}"/>
                </a:ext>
              </a:extLst>
            </p:cNvPr>
            <p:cNvSpPr/>
            <p:nvPr/>
          </p:nvSpPr>
          <p:spPr>
            <a:xfrm>
              <a:off x="2593172" y="7800313"/>
              <a:ext cx="80087" cy="131052"/>
            </a:xfrm>
            <a:custGeom>
              <a:avLst/>
              <a:gdLst>
                <a:gd name="connsiteX0" fmla="*/ 0 w 80087"/>
                <a:gd name="connsiteY0" fmla="*/ 0 h 131052"/>
                <a:gd name="connsiteX1" fmla="*/ 80088 w 80087"/>
                <a:gd name="connsiteY1" fmla="*/ 0 h 131052"/>
                <a:gd name="connsiteX2" fmla="*/ 80088 w 80087"/>
                <a:gd name="connsiteY2" fmla="*/ 131052 h 131052"/>
                <a:gd name="connsiteX3" fmla="*/ 0 w 80087"/>
                <a:gd name="connsiteY3" fmla="*/ 131052 h 13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131052">
                  <a:moveTo>
                    <a:pt x="0" y="0"/>
                  </a:moveTo>
                  <a:lnTo>
                    <a:pt x="80088" y="0"/>
                  </a:lnTo>
                  <a:lnTo>
                    <a:pt x="80088" y="131052"/>
                  </a:lnTo>
                  <a:lnTo>
                    <a:pt x="0" y="131052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C23300-D3A7-67DC-1E3F-CD94B5D4F58E}"/>
              </a:ext>
            </a:extLst>
          </p:cNvPr>
          <p:cNvCxnSpPr>
            <a:cxnSpLocks/>
          </p:cNvCxnSpPr>
          <p:nvPr/>
        </p:nvCxnSpPr>
        <p:spPr>
          <a:xfrm>
            <a:off x="3337793" y="2242309"/>
            <a:ext cx="0" cy="3816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B8730D-11F8-EAD9-D48C-C194F0DA86E1}"/>
              </a:ext>
            </a:extLst>
          </p:cNvPr>
          <p:cNvCxnSpPr>
            <a:cxnSpLocks/>
          </p:cNvCxnSpPr>
          <p:nvPr/>
        </p:nvCxnSpPr>
        <p:spPr>
          <a:xfrm>
            <a:off x="5964577" y="2242309"/>
            <a:ext cx="0" cy="3816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EEF4BC2-C716-9DEE-8C13-803633CC73A6}"/>
              </a:ext>
            </a:extLst>
          </p:cNvPr>
          <p:cNvCxnSpPr>
            <a:cxnSpLocks/>
          </p:cNvCxnSpPr>
          <p:nvPr/>
        </p:nvCxnSpPr>
        <p:spPr>
          <a:xfrm>
            <a:off x="8591361" y="2242309"/>
            <a:ext cx="0" cy="3816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CF1FB6A-4E24-EF5E-10EC-5BB4655EAE05}"/>
              </a:ext>
            </a:extLst>
          </p:cNvPr>
          <p:cNvSpPr txBox="1"/>
          <p:nvPr/>
        </p:nvSpPr>
        <p:spPr>
          <a:xfrm>
            <a:off x="1820068" y="1604646"/>
            <a:ext cx="1736792" cy="60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グローバル連携・</a:t>
            </a:r>
            <a:r>
              <a:rPr kumimoji="0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KJ COE</a:t>
            </a:r>
            <a:r>
              <a:rPr lang="en-US" altLang="ja-JP" sz="1600" b="1" noProof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運営</a:t>
            </a:r>
            <a:endParaRPr kumimoji="0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413029D-C0AA-7A30-B860-80DD021CE722}"/>
              </a:ext>
            </a:extLst>
          </p:cNvPr>
          <p:cNvSpPr txBox="1"/>
          <p:nvPr/>
        </p:nvSpPr>
        <p:spPr>
          <a:xfrm>
            <a:off x="4400226" y="1583232"/>
            <a:ext cx="1286156" cy="60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ツール群検証・展開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Box 35">
            <a:extLst>
              <a:ext uri="{FF2B5EF4-FFF2-40B4-BE49-F238E27FC236}">
                <a16:creationId xmlns:a16="http://schemas.microsoft.com/office/drawing/2014/main" id="{B837E0E0-3535-5CFD-40E7-C9406B4F087C}"/>
              </a:ext>
            </a:extLst>
          </p:cNvPr>
          <p:cNvSpPr txBox="1"/>
          <p:nvPr/>
        </p:nvSpPr>
        <p:spPr>
          <a:xfrm>
            <a:off x="3518181" y="2508496"/>
            <a:ext cx="2250335" cy="35576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4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KPMG</a:t>
            </a:r>
            <a:r>
              <a:rPr lang="ja-JP" altLang="en-US" sz="14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内外問わず</a:t>
            </a:r>
            <a:r>
              <a:rPr lang="en-US" altLang="ja-JP" sz="14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4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ツールを迅速に検証・展開し、重複投資や情報分散を防ぐことで、</a:t>
            </a:r>
            <a:r>
              <a:rPr lang="en-US" altLang="ja-JP" sz="14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4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活用のハブとして機能する。</a:t>
            </a:r>
            <a:endParaRPr lang="en-US" altLang="ja-JP" sz="1400" b="1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活動内容</a:t>
            </a:r>
            <a:endParaRPr lang="en-US" altLang="ja-JP" sz="1200" b="1" u="sng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KPMG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標準ツールの評価・展開：　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Workbench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2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aIQ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Chat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等の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KPMG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共通ツールについて、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における標準導入モデルの設計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外部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ツールの評価・展開：　　検証用の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Sandbox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環境を構築し、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ChatGPT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Enterprise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をはじめとした技術検証と利用性評価を迅速に実施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A4F5BF71-10F2-A5C0-09D7-823266BA44B7}"/>
              </a:ext>
            </a:extLst>
          </p:cNvPr>
          <p:cNvSpPr txBox="1"/>
          <p:nvPr/>
        </p:nvSpPr>
        <p:spPr>
          <a:xfrm>
            <a:off x="6236295" y="2503117"/>
            <a:ext cx="2250333" cy="35961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400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400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を安全かつ信頼性高く活用するための</a:t>
            </a:r>
            <a:r>
              <a:rPr lang="en-US" altLang="ja-JP" sz="1400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400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Adv</a:t>
            </a:r>
            <a:r>
              <a:rPr lang="ja-JP" altLang="en-US" sz="1400" b="1" dirty="0">
                <a:solidFill>
                  <a:schemeClr val="accent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内ルールを整え、迅速・安全に導入できる業務環境を確立する。</a:t>
            </a:r>
            <a:endParaRPr lang="en-US" altLang="ja-JP" sz="1400" b="1" dirty="0">
              <a:solidFill>
                <a:schemeClr val="accent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活動内容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利用ルール、リスク評価手続き、セキュリティクリアランスプロセスの整備と定期的な更新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倫理原則および説明責任に基づく運用設計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社内向け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利用ガイドブック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の策定と教育展開。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導入プロジェクトの審査・承認・ガバナンスプロセスの標準化によるリードタイムの合理的短縮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2E98E715-814E-3BF7-EBE6-CF8F7F90D22A}"/>
              </a:ext>
            </a:extLst>
          </p:cNvPr>
          <p:cNvSpPr txBox="1"/>
          <p:nvPr/>
        </p:nvSpPr>
        <p:spPr>
          <a:xfrm>
            <a:off x="8756076" y="2488879"/>
            <a:ext cx="2462069" cy="33545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を「ツール」ではなく「行動」として深化させるために、</a:t>
            </a:r>
            <a:r>
              <a:rPr lang="en-US" altLang="ja-JP" sz="1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を横断したノウハウ展開・コミュニティ運営を行う。</a:t>
            </a:r>
            <a:endParaRPr lang="en-US" altLang="ja-JP" sz="1400" b="1" dirty="0">
              <a:solidFill>
                <a:schemeClr val="accent5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活動内容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各部門での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活用成果・事例を可視化し、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内ナレッジとして循環できる情報共有基盤の運営。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社員が自ら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活用を提案・実践できる「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 Value Forum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」やアイデアソンを開催。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現場の実践者を育成する「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推進リーダー（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AI Champion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）」プログラムの運営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E0A53E2-6835-E699-A203-6BAD07FE33D4}"/>
              </a:ext>
            </a:extLst>
          </p:cNvPr>
          <p:cNvSpPr txBox="1"/>
          <p:nvPr/>
        </p:nvSpPr>
        <p:spPr>
          <a:xfrm>
            <a:off x="7016828" y="1572132"/>
            <a:ext cx="1509302" cy="60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導入の　　</a:t>
            </a: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内環境整備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2B07FD6-9CB6-3680-0D9D-89F956CD0E71}"/>
              </a:ext>
            </a:extLst>
          </p:cNvPr>
          <p:cNvSpPr txBox="1"/>
          <p:nvPr/>
        </p:nvSpPr>
        <p:spPr>
          <a:xfrm>
            <a:off x="9622374" y="1552896"/>
            <a:ext cx="1728110" cy="64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実践ノウハウ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の共有基盤整備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692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B3DF6-AA9C-EDFD-1DDC-01C909A5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6218E803-DCB7-B566-AA96-3636123C5F7E}"/>
              </a:ext>
            </a:extLst>
          </p:cNvPr>
          <p:cNvSpPr/>
          <p:nvPr/>
        </p:nvSpPr>
        <p:spPr>
          <a:xfrm>
            <a:off x="3468025" y="1429817"/>
            <a:ext cx="2410984" cy="877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7F872F4-141B-57E3-C132-15DB76472E28}"/>
              </a:ext>
            </a:extLst>
          </p:cNvPr>
          <p:cNvSpPr/>
          <p:nvPr/>
        </p:nvSpPr>
        <p:spPr>
          <a:xfrm>
            <a:off x="6160639" y="1429817"/>
            <a:ext cx="2410984" cy="8778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D530064-D2FD-17B1-E90E-7A0F783CBAB5}"/>
              </a:ext>
            </a:extLst>
          </p:cNvPr>
          <p:cNvSpPr/>
          <p:nvPr/>
        </p:nvSpPr>
        <p:spPr>
          <a:xfrm>
            <a:off x="8774817" y="1429817"/>
            <a:ext cx="2410984" cy="87786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43D146E-A465-AE7C-B765-B5747246C63B}"/>
              </a:ext>
            </a:extLst>
          </p:cNvPr>
          <p:cNvSpPr/>
          <p:nvPr/>
        </p:nvSpPr>
        <p:spPr>
          <a:xfrm>
            <a:off x="909908" y="1429817"/>
            <a:ext cx="2410984" cy="877869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8BB39-0C9F-FD57-D8D2-CA900213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b="1" dirty="0">
                <a:latin typeface="+mn-lt"/>
                <a:ea typeface="Meiryo UI" panose="020B0604030504040204" pitchFamily="50" charset="-128"/>
              </a:rPr>
              <a:t>AI COE </a:t>
            </a:r>
            <a:r>
              <a:rPr lang="ja-JP" altLang="en-US" sz="3600" b="1" dirty="0">
                <a:latin typeface="+mn-lt"/>
                <a:ea typeface="Meiryo UI" panose="020B0604030504040204" pitchFamily="50" charset="-128"/>
              </a:rPr>
              <a:t>活動</a:t>
            </a:r>
            <a:r>
              <a:rPr lang="en-US" altLang="ja-JP" sz="3600" b="1" dirty="0">
                <a:latin typeface="+mn-lt"/>
                <a:ea typeface="Meiryo UI" panose="020B0604030504040204" pitchFamily="50" charset="-128"/>
              </a:rPr>
              <a:t>Update</a:t>
            </a:r>
            <a:endParaRPr lang="en-GB" sz="3600" b="1" dirty="0">
              <a:latin typeface="+mn-lt"/>
              <a:ea typeface="Meiryo UI" panose="020B0604030504040204" pitchFamily="50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F1136-E7F0-B5A3-4BCC-E4CDCD4FAA69}"/>
              </a:ext>
            </a:extLst>
          </p:cNvPr>
          <p:cNvSpPr txBox="1"/>
          <p:nvPr/>
        </p:nvSpPr>
        <p:spPr>
          <a:xfrm>
            <a:off x="909908" y="978686"/>
            <a:ext cx="1107402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ja-JP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月における活動</a:t>
            </a:r>
            <a:r>
              <a:rPr lang="en-US" altLang="ja-JP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Update</a:t>
            </a:r>
            <a:r>
              <a:rPr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lang="en-US" altLang="ja-JP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－</a:t>
            </a:r>
            <a:r>
              <a:rPr lang="en-US" altLang="ja-JP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月における活動計画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33F94F-99A6-375B-BDC4-0325395363EB}"/>
              </a:ext>
            </a:extLst>
          </p:cNvPr>
          <p:cNvSpPr txBox="1"/>
          <p:nvPr/>
        </p:nvSpPr>
        <p:spPr>
          <a:xfrm>
            <a:off x="985074" y="2504132"/>
            <a:ext cx="2232393" cy="18741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直近の活動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グローバル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対応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lvl="1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Pillar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別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Mtg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参加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lvl="1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Country AI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リード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Mtg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生成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ステコミの運営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lvl="1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議論推進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lvl="1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ダッシュボード作成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Graphic 11" descr="Bank with solid fill">
            <a:extLst>
              <a:ext uri="{FF2B5EF4-FFF2-40B4-BE49-F238E27FC236}">
                <a16:creationId xmlns:a16="http://schemas.microsoft.com/office/drawing/2014/main" id="{0C8F0F66-7410-F067-0E4F-EC78E80AB246}"/>
              </a:ext>
            </a:extLst>
          </p:cNvPr>
          <p:cNvSpPr/>
          <p:nvPr/>
        </p:nvSpPr>
        <p:spPr>
          <a:xfrm>
            <a:off x="1198462" y="1701969"/>
            <a:ext cx="407474" cy="386028"/>
          </a:xfrm>
          <a:custGeom>
            <a:avLst/>
            <a:gdLst>
              <a:gd name="connsiteX0" fmla="*/ 502367 w 553332"/>
              <a:gd name="connsiteY0" fmla="*/ 458683 h 524209"/>
              <a:gd name="connsiteX1" fmla="*/ 502367 w 553332"/>
              <a:gd name="connsiteY1" fmla="*/ 444122 h 524209"/>
              <a:gd name="connsiteX2" fmla="*/ 473245 w 553332"/>
              <a:gd name="connsiteY2" fmla="*/ 444122 h 524209"/>
              <a:gd name="connsiteX3" fmla="*/ 473245 w 553332"/>
              <a:gd name="connsiteY3" fmla="*/ 196579 h 524209"/>
              <a:gd name="connsiteX4" fmla="*/ 502367 w 553332"/>
              <a:gd name="connsiteY4" fmla="*/ 196579 h 524209"/>
              <a:gd name="connsiteX5" fmla="*/ 502367 w 553332"/>
              <a:gd name="connsiteY5" fmla="*/ 182017 h 524209"/>
              <a:gd name="connsiteX6" fmla="*/ 524210 w 553332"/>
              <a:gd name="connsiteY6" fmla="*/ 182017 h 524209"/>
              <a:gd name="connsiteX7" fmla="*/ 524210 w 553332"/>
              <a:gd name="connsiteY7" fmla="*/ 138333 h 524209"/>
              <a:gd name="connsiteX8" fmla="*/ 502367 w 553332"/>
              <a:gd name="connsiteY8" fmla="*/ 138333 h 524209"/>
              <a:gd name="connsiteX9" fmla="*/ 276666 w 553332"/>
              <a:gd name="connsiteY9" fmla="*/ 0 h 524209"/>
              <a:gd name="connsiteX10" fmla="*/ 50965 w 553332"/>
              <a:gd name="connsiteY10" fmla="*/ 138333 h 524209"/>
              <a:gd name="connsiteX11" fmla="*/ 29123 w 553332"/>
              <a:gd name="connsiteY11" fmla="*/ 138333 h 524209"/>
              <a:gd name="connsiteX12" fmla="*/ 29123 w 553332"/>
              <a:gd name="connsiteY12" fmla="*/ 182017 h 524209"/>
              <a:gd name="connsiteX13" fmla="*/ 50965 w 553332"/>
              <a:gd name="connsiteY13" fmla="*/ 182017 h 524209"/>
              <a:gd name="connsiteX14" fmla="*/ 50965 w 553332"/>
              <a:gd name="connsiteY14" fmla="*/ 196579 h 524209"/>
              <a:gd name="connsiteX15" fmla="*/ 80088 w 553332"/>
              <a:gd name="connsiteY15" fmla="*/ 196579 h 524209"/>
              <a:gd name="connsiteX16" fmla="*/ 80088 w 553332"/>
              <a:gd name="connsiteY16" fmla="*/ 444122 h 524209"/>
              <a:gd name="connsiteX17" fmla="*/ 50965 w 553332"/>
              <a:gd name="connsiteY17" fmla="*/ 444122 h 524209"/>
              <a:gd name="connsiteX18" fmla="*/ 50965 w 553332"/>
              <a:gd name="connsiteY18" fmla="*/ 458683 h 524209"/>
              <a:gd name="connsiteX19" fmla="*/ 0 w 553332"/>
              <a:gd name="connsiteY19" fmla="*/ 495087 h 524209"/>
              <a:gd name="connsiteX20" fmla="*/ 0 w 553332"/>
              <a:gd name="connsiteY20" fmla="*/ 524210 h 524209"/>
              <a:gd name="connsiteX21" fmla="*/ 276666 w 553332"/>
              <a:gd name="connsiteY21" fmla="*/ 524210 h 524209"/>
              <a:gd name="connsiteX22" fmla="*/ 553332 w 553332"/>
              <a:gd name="connsiteY22" fmla="*/ 524210 h 524209"/>
              <a:gd name="connsiteX23" fmla="*/ 553332 w 553332"/>
              <a:gd name="connsiteY23" fmla="*/ 495087 h 524209"/>
              <a:gd name="connsiteX24" fmla="*/ 502367 w 553332"/>
              <a:gd name="connsiteY24" fmla="*/ 458683 h 524209"/>
              <a:gd name="connsiteX25" fmla="*/ 167456 w 553332"/>
              <a:gd name="connsiteY25" fmla="*/ 444122 h 524209"/>
              <a:gd name="connsiteX26" fmla="*/ 123772 w 553332"/>
              <a:gd name="connsiteY26" fmla="*/ 444122 h 524209"/>
              <a:gd name="connsiteX27" fmla="*/ 123772 w 553332"/>
              <a:gd name="connsiteY27" fmla="*/ 196579 h 524209"/>
              <a:gd name="connsiteX28" fmla="*/ 167456 w 553332"/>
              <a:gd name="connsiteY28" fmla="*/ 196579 h 524209"/>
              <a:gd name="connsiteX29" fmla="*/ 167456 w 553332"/>
              <a:gd name="connsiteY29" fmla="*/ 444122 h 524209"/>
              <a:gd name="connsiteX30" fmla="*/ 254824 w 553332"/>
              <a:gd name="connsiteY30" fmla="*/ 444122 h 524209"/>
              <a:gd name="connsiteX31" fmla="*/ 211140 w 553332"/>
              <a:gd name="connsiteY31" fmla="*/ 444122 h 524209"/>
              <a:gd name="connsiteX32" fmla="*/ 211140 w 553332"/>
              <a:gd name="connsiteY32" fmla="*/ 196579 h 524209"/>
              <a:gd name="connsiteX33" fmla="*/ 254824 w 553332"/>
              <a:gd name="connsiteY33" fmla="*/ 196579 h 524209"/>
              <a:gd name="connsiteX34" fmla="*/ 254824 w 553332"/>
              <a:gd name="connsiteY34" fmla="*/ 444122 h 524209"/>
              <a:gd name="connsiteX35" fmla="*/ 269385 w 553332"/>
              <a:gd name="connsiteY35" fmla="*/ 123772 h 524209"/>
              <a:gd name="connsiteX36" fmla="*/ 240263 w 553332"/>
              <a:gd name="connsiteY36" fmla="*/ 94649 h 524209"/>
              <a:gd name="connsiteX37" fmla="*/ 269385 w 553332"/>
              <a:gd name="connsiteY37" fmla="*/ 65526 h 524209"/>
              <a:gd name="connsiteX38" fmla="*/ 298508 w 553332"/>
              <a:gd name="connsiteY38" fmla="*/ 94649 h 524209"/>
              <a:gd name="connsiteX39" fmla="*/ 269385 w 553332"/>
              <a:gd name="connsiteY39" fmla="*/ 123772 h 524209"/>
              <a:gd name="connsiteX40" fmla="*/ 342192 w 553332"/>
              <a:gd name="connsiteY40" fmla="*/ 444122 h 524209"/>
              <a:gd name="connsiteX41" fmla="*/ 298508 w 553332"/>
              <a:gd name="connsiteY41" fmla="*/ 444122 h 524209"/>
              <a:gd name="connsiteX42" fmla="*/ 298508 w 553332"/>
              <a:gd name="connsiteY42" fmla="*/ 196579 h 524209"/>
              <a:gd name="connsiteX43" fmla="*/ 342192 w 553332"/>
              <a:gd name="connsiteY43" fmla="*/ 196579 h 524209"/>
              <a:gd name="connsiteX44" fmla="*/ 342192 w 553332"/>
              <a:gd name="connsiteY44" fmla="*/ 444122 h 524209"/>
              <a:gd name="connsiteX45" fmla="*/ 429561 w 553332"/>
              <a:gd name="connsiteY45" fmla="*/ 444122 h 524209"/>
              <a:gd name="connsiteX46" fmla="*/ 385876 w 553332"/>
              <a:gd name="connsiteY46" fmla="*/ 444122 h 524209"/>
              <a:gd name="connsiteX47" fmla="*/ 385876 w 553332"/>
              <a:gd name="connsiteY47" fmla="*/ 196579 h 524209"/>
              <a:gd name="connsiteX48" fmla="*/ 429561 w 553332"/>
              <a:gd name="connsiteY48" fmla="*/ 196579 h 524209"/>
              <a:gd name="connsiteX49" fmla="*/ 429561 w 553332"/>
              <a:gd name="connsiteY49" fmla="*/ 444122 h 52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553332" h="524209">
                <a:moveTo>
                  <a:pt x="502367" y="458683"/>
                </a:moveTo>
                <a:lnTo>
                  <a:pt x="502367" y="444122"/>
                </a:lnTo>
                <a:lnTo>
                  <a:pt x="473245" y="444122"/>
                </a:lnTo>
                <a:lnTo>
                  <a:pt x="473245" y="196579"/>
                </a:lnTo>
                <a:lnTo>
                  <a:pt x="502367" y="196579"/>
                </a:lnTo>
                <a:lnTo>
                  <a:pt x="502367" y="182017"/>
                </a:lnTo>
                <a:lnTo>
                  <a:pt x="524210" y="182017"/>
                </a:lnTo>
                <a:lnTo>
                  <a:pt x="524210" y="138333"/>
                </a:lnTo>
                <a:lnTo>
                  <a:pt x="502367" y="138333"/>
                </a:lnTo>
                <a:lnTo>
                  <a:pt x="276666" y="0"/>
                </a:lnTo>
                <a:lnTo>
                  <a:pt x="50965" y="138333"/>
                </a:lnTo>
                <a:lnTo>
                  <a:pt x="29123" y="138333"/>
                </a:lnTo>
                <a:lnTo>
                  <a:pt x="29123" y="182017"/>
                </a:lnTo>
                <a:lnTo>
                  <a:pt x="50965" y="182017"/>
                </a:lnTo>
                <a:lnTo>
                  <a:pt x="50965" y="196579"/>
                </a:lnTo>
                <a:lnTo>
                  <a:pt x="80088" y="196579"/>
                </a:lnTo>
                <a:lnTo>
                  <a:pt x="80088" y="444122"/>
                </a:lnTo>
                <a:lnTo>
                  <a:pt x="50965" y="444122"/>
                </a:lnTo>
                <a:lnTo>
                  <a:pt x="50965" y="458683"/>
                </a:lnTo>
                <a:lnTo>
                  <a:pt x="0" y="495087"/>
                </a:lnTo>
                <a:lnTo>
                  <a:pt x="0" y="524210"/>
                </a:lnTo>
                <a:lnTo>
                  <a:pt x="276666" y="524210"/>
                </a:lnTo>
                <a:lnTo>
                  <a:pt x="553332" y="524210"/>
                </a:lnTo>
                <a:lnTo>
                  <a:pt x="553332" y="495087"/>
                </a:lnTo>
                <a:lnTo>
                  <a:pt x="502367" y="458683"/>
                </a:lnTo>
                <a:close/>
                <a:moveTo>
                  <a:pt x="167456" y="444122"/>
                </a:moveTo>
                <a:lnTo>
                  <a:pt x="123772" y="444122"/>
                </a:lnTo>
                <a:lnTo>
                  <a:pt x="123772" y="196579"/>
                </a:lnTo>
                <a:lnTo>
                  <a:pt x="167456" y="196579"/>
                </a:lnTo>
                <a:lnTo>
                  <a:pt x="167456" y="444122"/>
                </a:lnTo>
                <a:close/>
                <a:moveTo>
                  <a:pt x="254824" y="444122"/>
                </a:moveTo>
                <a:lnTo>
                  <a:pt x="211140" y="444122"/>
                </a:lnTo>
                <a:lnTo>
                  <a:pt x="211140" y="196579"/>
                </a:lnTo>
                <a:lnTo>
                  <a:pt x="254824" y="196579"/>
                </a:lnTo>
                <a:lnTo>
                  <a:pt x="254824" y="444122"/>
                </a:lnTo>
                <a:close/>
                <a:moveTo>
                  <a:pt x="269385" y="123772"/>
                </a:moveTo>
                <a:cubicBezTo>
                  <a:pt x="253368" y="123772"/>
                  <a:pt x="240263" y="110666"/>
                  <a:pt x="240263" y="94649"/>
                </a:cubicBezTo>
                <a:cubicBezTo>
                  <a:pt x="240263" y="78631"/>
                  <a:pt x="253368" y="65526"/>
                  <a:pt x="269385" y="65526"/>
                </a:cubicBezTo>
                <a:cubicBezTo>
                  <a:pt x="285403" y="65526"/>
                  <a:pt x="298508" y="78631"/>
                  <a:pt x="298508" y="94649"/>
                </a:cubicBezTo>
                <a:cubicBezTo>
                  <a:pt x="298508" y="110666"/>
                  <a:pt x="285403" y="123772"/>
                  <a:pt x="269385" y="123772"/>
                </a:cubicBezTo>
                <a:close/>
                <a:moveTo>
                  <a:pt x="342192" y="444122"/>
                </a:moveTo>
                <a:lnTo>
                  <a:pt x="298508" y="444122"/>
                </a:lnTo>
                <a:lnTo>
                  <a:pt x="298508" y="196579"/>
                </a:lnTo>
                <a:lnTo>
                  <a:pt x="342192" y="196579"/>
                </a:lnTo>
                <a:lnTo>
                  <a:pt x="342192" y="444122"/>
                </a:lnTo>
                <a:close/>
                <a:moveTo>
                  <a:pt x="429561" y="444122"/>
                </a:moveTo>
                <a:lnTo>
                  <a:pt x="385876" y="444122"/>
                </a:lnTo>
                <a:lnTo>
                  <a:pt x="385876" y="196579"/>
                </a:lnTo>
                <a:lnTo>
                  <a:pt x="429561" y="196579"/>
                </a:lnTo>
                <a:lnTo>
                  <a:pt x="429561" y="444122"/>
                </a:lnTo>
                <a:close/>
              </a:path>
            </a:pathLst>
          </a:custGeom>
          <a:solidFill>
            <a:schemeClr val="bg1"/>
          </a:solidFill>
          <a:ln w="72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9" name="Group 48" descr="Icon address book">
            <a:extLst>
              <a:ext uri="{FF2B5EF4-FFF2-40B4-BE49-F238E27FC236}">
                <a16:creationId xmlns:a16="http://schemas.microsoft.com/office/drawing/2014/main" id="{CECC1240-C2EB-BA7D-8164-B2B781977A2A}"/>
              </a:ext>
            </a:extLst>
          </p:cNvPr>
          <p:cNvGrpSpPr/>
          <p:nvPr/>
        </p:nvGrpSpPr>
        <p:grpSpPr>
          <a:xfrm>
            <a:off x="3858869" y="1701969"/>
            <a:ext cx="318212" cy="386028"/>
            <a:chOff x="6524311" y="1621955"/>
            <a:chExt cx="444122" cy="538770"/>
          </a:xfrm>
          <a:solidFill>
            <a:schemeClr val="bg1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16293B3-B2E6-6E00-79F4-B166F9E33DC9}"/>
                </a:ext>
              </a:extLst>
            </p:cNvPr>
            <p:cNvSpPr/>
            <p:nvPr/>
          </p:nvSpPr>
          <p:spPr>
            <a:xfrm>
              <a:off x="6924749" y="1621955"/>
              <a:ext cx="43684" cy="538770"/>
            </a:xfrm>
            <a:custGeom>
              <a:avLst/>
              <a:gdLst>
                <a:gd name="connsiteX0" fmla="*/ 0 w 43684"/>
                <a:gd name="connsiteY0" fmla="*/ 0 h 538770"/>
                <a:gd name="connsiteX1" fmla="*/ 43684 w 43684"/>
                <a:gd name="connsiteY1" fmla="*/ 0 h 538770"/>
                <a:gd name="connsiteX2" fmla="*/ 43684 w 43684"/>
                <a:gd name="connsiteY2" fmla="*/ 538771 h 538770"/>
                <a:gd name="connsiteX3" fmla="*/ 0 w 43684"/>
                <a:gd name="connsiteY3" fmla="*/ 538771 h 538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84" h="538770">
                  <a:moveTo>
                    <a:pt x="0" y="0"/>
                  </a:moveTo>
                  <a:lnTo>
                    <a:pt x="43684" y="0"/>
                  </a:lnTo>
                  <a:lnTo>
                    <a:pt x="43684" y="538771"/>
                  </a:lnTo>
                  <a:lnTo>
                    <a:pt x="0" y="538771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516C8F4-BFCD-E433-A286-E25DDA8E37DA}"/>
                </a:ext>
              </a:extLst>
            </p:cNvPr>
            <p:cNvSpPr/>
            <p:nvPr/>
          </p:nvSpPr>
          <p:spPr>
            <a:xfrm>
              <a:off x="6524311" y="1621955"/>
              <a:ext cx="371315" cy="538770"/>
            </a:xfrm>
            <a:custGeom>
              <a:avLst/>
              <a:gdLst>
                <a:gd name="connsiteX0" fmla="*/ 0 w 371315"/>
                <a:gd name="connsiteY0" fmla="*/ 29123 h 538770"/>
                <a:gd name="connsiteX1" fmla="*/ 0 w 371315"/>
                <a:gd name="connsiteY1" fmla="*/ 509648 h 538770"/>
                <a:gd name="connsiteX2" fmla="*/ 29123 w 371315"/>
                <a:gd name="connsiteY2" fmla="*/ 538771 h 538770"/>
                <a:gd name="connsiteX3" fmla="*/ 371315 w 371315"/>
                <a:gd name="connsiteY3" fmla="*/ 538771 h 538770"/>
                <a:gd name="connsiteX4" fmla="*/ 371315 w 371315"/>
                <a:gd name="connsiteY4" fmla="*/ 0 h 538770"/>
                <a:gd name="connsiteX5" fmla="*/ 29123 w 371315"/>
                <a:gd name="connsiteY5" fmla="*/ 0 h 538770"/>
                <a:gd name="connsiteX6" fmla="*/ 0 w 371315"/>
                <a:gd name="connsiteY6" fmla="*/ 29123 h 538770"/>
                <a:gd name="connsiteX7" fmla="*/ 191482 w 371315"/>
                <a:gd name="connsiteY7" fmla="*/ 259921 h 538770"/>
                <a:gd name="connsiteX8" fmla="*/ 136149 w 371315"/>
                <a:gd name="connsiteY8" fmla="*/ 204587 h 538770"/>
                <a:gd name="connsiteX9" fmla="*/ 191482 w 371315"/>
                <a:gd name="connsiteY9" fmla="*/ 149254 h 538770"/>
                <a:gd name="connsiteX10" fmla="*/ 246815 w 371315"/>
                <a:gd name="connsiteY10" fmla="*/ 204587 h 538770"/>
                <a:gd name="connsiteX11" fmla="*/ 191482 w 371315"/>
                <a:gd name="connsiteY11" fmla="*/ 259921 h 538770"/>
                <a:gd name="connsiteX12" fmla="*/ 80088 w 371315"/>
                <a:gd name="connsiteY12" fmla="*/ 330543 h 538770"/>
                <a:gd name="connsiteX13" fmla="*/ 91009 w 371315"/>
                <a:gd name="connsiteY13" fmla="*/ 307973 h 538770"/>
                <a:gd name="connsiteX14" fmla="*/ 145614 w 371315"/>
                <a:gd name="connsiteY14" fmla="*/ 281763 h 538770"/>
                <a:gd name="connsiteX15" fmla="*/ 191482 w 371315"/>
                <a:gd name="connsiteY15" fmla="*/ 274482 h 538770"/>
                <a:gd name="connsiteX16" fmla="*/ 237350 w 371315"/>
                <a:gd name="connsiteY16" fmla="*/ 281763 h 538770"/>
                <a:gd name="connsiteX17" fmla="*/ 291956 w 371315"/>
                <a:gd name="connsiteY17" fmla="*/ 307973 h 538770"/>
                <a:gd name="connsiteX18" fmla="*/ 302877 w 371315"/>
                <a:gd name="connsiteY18" fmla="*/ 330543 h 538770"/>
                <a:gd name="connsiteX19" fmla="*/ 302877 w 371315"/>
                <a:gd name="connsiteY19" fmla="*/ 385876 h 538770"/>
                <a:gd name="connsiteX20" fmla="*/ 80088 w 371315"/>
                <a:gd name="connsiteY20" fmla="*/ 385876 h 538770"/>
                <a:gd name="connsiteX21" fmla="*/ 80088 w 371315"/>
                <a:gd name="connsiteY21" fmla="*/ 330543 h 538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71315" h="538770">
                  <a:moveTo>
                    <a:pt x="0" y="29123"/>
                  </a:moveTo>
                  <a:lnTo>
                    <a:pt x="0" y="509648"/>
                  </a:lnTo>
                  <a:cubicBezTo>
                    <a:pt x="0" y="525666"/>
                    <a:pt x="13105" y="538771"/>
                    <a:pt x="29123" y="538771"/>
                  </a:cubicBezTo>
                  <a:lnTo>
                    <a:pt x="371315" y="538771"/>
                  </a:lnTo>
                  <a:lnTo>
                    <a:pt x="371315" y="0"/>
                  </a:lnTo>
                  <a:lnTo>
                    <a:pt x="29123" y="0"/>
                  </a:lnTo>
                  <a:cubicBezTo>
                    <a:pt x="13105" y="0"/>
                    <a:pt x="0" y="13105"/>
                    <a:pt x="0" y="29123"/>
                  </a:cubicBezTo>
                  <a:close/>
                  <a:moveTo>
                    <a:pt x="191482" y="259921"/>
                  </a:moveTo>
                  <a:cubicBezTo>
                    <a:pt x="160903" y="259921"/>
                    <a:pt x="136149" y="235166"/>
                    <a:pt x="136149" y="204587"/>
                  </a:cubicBezTo>
                  <a:cubicBezTo>
                    <a:pt x="136149" y="174008"/>
                    <a:pt x="160903" y="149254"/>
                    <a:pt x="191482" y="149254"/>
                  </a:cubicBezTo>
                  <a:cubicBezTo>
                    <a:pt x="222061" y="149254"/>
                    <a:pt x="246815" y="174008"/>
                    <a:pt x="246815" y="204587"/>
                  </a:cubicBezTo>
                  <a:cubicBezTo>
                    <a:pt x="246815" y="235894"/>
                    <a:pt x="222061" y="259921"/>
                    <a:pt x="191482" y="259921"/>
                  </a:cubicBezTo>
                  <a:close/>
                  <a:moveTo>
                    <a:pt x="80088" y="330543"/>
                  </a:moveTo>
                  <a:cubicBezTo>
                    <a:pt x="80088" y="321806"/>
                    <a:pt x="84456" y="313070"/>
                    <a:pt x="91009" y="307973"/>
                  </a:cubicBezTo>
                  <a:cubicBezTo>
                    <a:pt x="107754" y="295596"/>
                    <a:pt x="125956" y="286859"/>
                    <a:pt x="145614" y="281763"/>
                  </a:cubicBezTo>
                  <a:cubicBezTo>
                    <a:pt x="160175" y="276666"/>
                    <a:pt x="176193" y="274482"/>
                    <a:pt x="191482" y="274482"/>
                  </a:cubicBezTo>
                  <a:cubicBezTo>
                    <a:pt x="206772" y="275210"/>
                    <a:pt x="222061" y="277394"/>
                    <a:pt x="237350" y="281763"/>
                  </a:cubicBezTo>
                  <a:cubicBezTo>
                    <a:pt x="257008" y="286859"/>
                    <a:pt x="275210" y="296324"/>
                    <a:pt x="291956" y="307973"/>
                  </a:cubicBezTo>
                  <a:cubicBezTo>
                    <a:pt x="298508" y="313798"/>
                    <a:pt x="302877" y="321806"/>
                    <a:pt x="302877" y="330543"/>
                  </a:cubicBezTo>
                  <a:lnTo>
                    <a:pt x="302877" y="385876"/>
                  </a:lnTo>
                  <a:lnTo>
                    <a:pt x="80088" y="385876"/>
                  </a:lnTo>
                  <a:lnTo>
                    <a:pt x="80088" y="330543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F6BABB7-E6D4-1C1D-AE44-29DC00B8EFBE}"/>
              </a:ext>
            </a:extLst>
          </p:cNvPr>
          <p:cNvGrpSpPr/>
          <p:nvPr/>
        </p:nvGrpSpPr>
        <p:grpSpPr>
          <a:xfrm>
            <a:off x="6454719" y="1728493"/>
            <a:ext cx="383286" cy="332980"/>
            <a:chOff x="765945" y="7535993"/>
            <a:chExt cx="582455" cy="506008"/>
          </a:xfrm>
          <a:solidFill>
            <a:schemeClr val="bg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F48095C-89AC-5F54-8ED8-0CD49FDEBDA5}"/>
                </a:ext>
              </a:extLst>
            </p:cNvPr>
            <p:cNvSpPr/>
            <p:nvPr/>
          </p:nvSpPr>
          <p:spPr>
            <a:xfrm>
              <a:off x="765945" y="7809019"/>
              <a:ext cx="582455" cy="232982"/>
            </a:xfrm>
            <a:custGeom>
              <a:avLst/>
              <a:gdLst>
                <a:gd name="connsiteX0" fmla="*/ 334912 w 582455"/>
                <a:gd name="connsiteY0" fmla="*/ 14561 h 232982"/>
                <a:gd name="connsiteX1" fmla="*/ 305789 w 582455"/>
                <a:gd name="connsiteY1" fmla="*/ 43684 h 232982"/>
                <a:gd name="connsiteX2" fmla="*/ 276666 w 582455"/>
                <a:gd name="connsiteY2" fmla="*/ 43684 h 232982"/>
                <a:gd name="connsiteX3" fmla="*/ 247543 w 582455"/>
                <a:gd name="connsiteY3" fmla="*/ 14561 h 232982"/>
                <a:gd name="connsiteX4" fmla="*/ 247543 w 582455"/>
                <a:gd name="connsiteY4" fmla="*/ 0 h 232982"/>
                <a:gd name="connsiteX5" fmla="*/ 0 w 582455"/>
                <a:gd name="connsiteY5" fmla="*/ 0 h 232982"/>
                <a:gd name="connsiteX6" fmla="*/ 0 w 582455"/>
                <a:gd name="connsiteY6" fmla="*/ 203859 h 232982"/>
                <a:gd name="connsiteX7" fmla="*/ 29123 w 582455"/>
                <a:gd name="connsiteY7" fmla="*/ 232982 h 232982"/>
                <a:gd name="connsiteX8" fmla="*/ 553332 w 582455"/>
                <a:gd name="connsiteY8" fmla="*/ 232982 h 232982"/>
                <a:gd name="connsiteX9" fmla="*/ 582455 w 582455"/>
                <a:gd name="connsiteY9" fmla="*/ 203859 h 232982"/>
                <a:gd name="connsiteX10" fmla="*/ 582455 w 582455"/>
                <a:gd name="connsiteY10" fmla="*/ 0 h 232982"/>
                <a:gd name="connsiteX11" fmla="*/ 334912 w 582455"/>
                <a:gd name="connsiteY11" fmla="*/ 0 h 232982"/>
                <a:gd name="connsiteX12" fmla="*/ 334912 w 582455"/>
                <a:gd name="connsiteY12" fmla="*/ 14561 h 232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2455" h="232982">
                  <a:moveTo>
                    <a:pt x="334912" y="14561"/>
                  </a:moveTo>
                  <a:cubicBezTo>
                    <a:pt x="334912" y="30579"/>
                    <a:pt x="321806" y="43684"/>
                    <a:pt x="305789" y="43684"/>
                  </a:cubicBezTo>
                  <a:lnTo>
                    <a:pt x="276666" y="43684"/>
                  </a:lnTo>
                  <a:cubicBezTo>
                    <a:pt x="260649" y="43684"/>
                    <a:pt x="247543" y="30579"/>
                    <a:pt x="247543" y="14561"/>
                  </a:cubicBezTo>
                  <a:lnTo>
                    <a:pt x="247543" y="0"/>
                  </a:lnTo>
                  <a:lnTo>
                    <a:pt x="0" y="0"/>
                  </a:lnTo>
                  <a:lnTo>
                    <a:pt x="0" y="203859"/>
                  </a:lnTo>
                  <a:cubicBezTo>
                    <a:pt x="0" y="219877"/>
                    <a:pt x="13105" y="232982"/>
                    <a:pt x="29123" y="232982"/>
                  </a:cubicBezTo>
                  <a:lnTo>
                    <a:pt x="553332" y="232982"/>
                  </a:lnTo>
                  <a:cubicBezTo>
                    <a:pt x="569350" y="232982"/>
                    <a:pt x="582455" y="219877"/>
                    <a:pt x="582455" y="203859"/>
                  </a:cubicBezTo>
                  <a:lnTo>
                    <a:pt x="582455" y="0"/>
                  </a:lnTo>
                  <a:lnTo>
                    <a:pt x="334912" y="0"/>
                  </a:lnTo>
                  <a:lnTo>
                    <a:pt x="334912" y="14561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7115777-5D74-12DF-E3C8-86E08D1277FD}"/>
                </a:ext>
              </a:extLst>
            </p:cNvPr>
            <p:cNvSpPr/>
            <p:nvPr/>
          </p:nvSpPr>
          <p:spPr>
            <a:xfrm>
              <a:off x="765945" y="7535993"/>
              <a:ext cx="582455" cy="243903"/>
            </a:xfrm>
            <a:custGeom>
              <a:avLst/>
              <a:gdLst>
                <a:gd name="connsiteX0" fmla="*/ 553332 w 582455"/>
                <a:gd name="connsiteY0" fmla="*/ 98289 h 243903"/>
                <a:gd name="connsiteX1" fmla="*/ 407719 w 582455"/>
                <a:gd name="connsiteY1" fmla="*/ 98289 h 243903"/>
                <a:gd name="connsiteX2" fmla="*/ 407719 w 582455"/>
                <a:gd name="connsiteY2" fmla="*/ 50965 h 243903"/>
                <a:gd name="connsiteX3" fmla="*/ 356754 w 582455"/>
                <a:gd name="connsiteY3" fmla="*/ 0 h 243903"/>
                <a:gd name="connsiteX4" fmla="*/ 225701 w 582455"/>
                <a:gd name="connsiteY4" fmla="*/ 0 h 243903"/>
                <a:gd name="connsiteX5" fmla="*/ 174737 w 582455"/>
                <a:gd name="connsiteY5" fmla="*/ 50965 h 243903"/>
                <a:gd name="connsiteX6" fmla="*/ 174737 w 582455"/>
                <a:gd name="connsiteY6" fmla="*/ 98289 h 243903"/>
                <a:gd name="connsiteX7" fmla="*/ 29123 w 582455"/>
                <a:gd name="connsiteY7" fmla="*/ 98289 h 243903"/>
                <a:gd name="connsiteX8" fmla="*/ 0 w 582455"/>
                <a:gd name="connsiteY8" fmla="*/ 127412 h 243903"/>
                <a:gd name="connsiteX9" fmla="*/ 0 w 582455"/>
                <a:gd name="connsiteY9" fmla="*/ 243903 h 243903"/>
                <a:gd name="connsiteX10" fmla="*/ 247543 w 582455"/>
                <a:gd name="connsiteY10" fmla="*/ 243903 h 243903"/>
                <a:gd name="connsiteX11" fmla="*/ 247543 w 582455"/>
                <a:gd name="connsiteY11" fmla="*/ 229342 h 243903"/>
                <a:gd name="connsiteX12" fmla="*/ 334912 w 582455"/>
                <a:gd name="connsiteY12" fmla="*/ 229342 h 243903"/>
                <a:gd name="connsiteX13" fmla="*/ 334912 w 582455"/>
                <a:gd name="connsiteY13" fmla="*/ 243903 h 243903"/>
                <a:gd name="connsiteX14" fmla="*/ 582455 w 582455"/>
                <a:gd name="connsiteY14" fmla="*/ 243903 h 243903"/>
                <a:gd name="connsiteX15" fmla="*/ 582455 w 582455"/>
                <a:gd name="connsiteY15" fmla="*/ 127412 h 243903"/>
                <a:gd name="connsiteX16" fmla="*/ 553332 w 582455"/>
                <a:gd name="connsiteY16" fmla="*/ 98289 h 243903"/>
                <a:gd name="connsiteX17" fmla="*/ 218421 w 582455"/>
                <a:gd name="connsiteY17" fmla="*/ 98289 h 243903"/>
                <a:gd name="connsiteX18" fmla="*/ 218421 w 582455"/>
                <a:gd name="connsiteY18" fmla="*/ 50965 h 243903"/>
                <a:gd name="connsiteX19" fmla="*/ 225701 w 582455"/>
                <a:gd name="connsiteY19" fmla="*/ 43684 h 243903"/>
                <a:gd name="connsiteX20" fmla="*/ 356754 w 582455"/>
                <a:gd name="connsiteY20" fmla="*/ 43684 h 243903"/>
                <a:gd name="connsiteX21" fmla="*/ 364034 w 582455"/>
                <a:gd name="connsiteY21" fmla="*/ 50965 h 243903"/>
                <a:gd name="connsiteX22" fmla="*/ 364034 w 582455"/>
                <a:gd name="connsiteY22" fmla="*/ 98289 h 243903"/>
                <a:gd name="connsiteX23" fmla="*/ 218421 w 582455"/>
                <a:gd name="connsiteY23" fmla="*/ 98289 h 24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2455" h="243903">
                  <a:moveTo>
                    <a:pt x="553332" y="98289"/>
                  </a:moveTo>
                  <a:lnTo>
                    <a:pt x="407719" y="98289"/>
                  </a:lnTo>
                  <a:lnTo>
                    <a:pt x="407719" y="50965"/>
                  </a:lnTo>
                  <a:cubicBezTo>
                    <a:pt x="407719" y="22570"/>
                    <a:pt x="385148" y="0"/>
                    <a:pt x="356754" y="0"/>
                  </a:cubicBezTo>
                  <a:lnTo>
                    <a:pt x="225701" y="0"/>
                  </a:lnTo>
                  <a:cubicBezTo>
                    <a:pt x="197307" y="0"/>
                    <a:pt x="174737" y="22570"/>
                    <a:pt x="174737" y="50965"/>
                  </a:cubicBezTo>
                  <a:lnTo>
                    <a:pt x="174737" y="98289"/>
                  </a:lnTo>
                  <a:lnTo>
                    <a:pt x="29123" y="98289"/>
                  </a:lnTo>
                  <a:cubicBezTo>
                    <a:pt x="13105" y="98289"/>
                    <a:pt x="0" y="111395"/>
                    <a:pt x="0" y="127412"/>
                  </a:cubicBezTo>
                  <a:lnTo>
                    <a:pt x="0" y="243903"/>
                  </a:lnTo>
                  <a:lnTo>
                    <a:pt x="247543" y="243903"/>
                  </a:lnTo>
                  <a:lnTo>
                    <a:pt x="247543" y="229342"/>
                  </a:lnTo>
                  <a:lnTo>
                    <a:pt x="334912" y="229342"/>
                  </a:lnTo>
                  <a:lnTo>
                    <a:pt x="334912" y="243903"/>
                  </a:lnTo>
                  <a:lnTo>
                    <a:pt x="582455" y="243903"/>
                  </a:lnTo>
                  <a:lnTo>
                    <a:pt x="582455" y="127412"/>
                  </a:lnTo>
                  <a:cubicBezTo>
                    <a:pt x="582455" y="111395"/>
                    <a:pt x="569350" y="98289"/>
                    <a:pt x="553332" y="98289"/>
                  </a:cubicBezTo>
                  <a:moveTo>
                    <a:pt x="218421" y="98289"/>
                  </a:moveTo>
                  <a:lnTo>
                    <a:pt x="218421" y="50965"/>
                  </a:lnTo>
                  <a:cubicBezTo>
                    <a:pt x="218421" y="46596"/>
                    <a:pt x="221333" y="43684"/>
                    <a:pt x="225701" y="43684"/>
                  </a:cubicBezTo>
                  <a:lnTo>
                    <a:pt x="356754" y="43684"/>
                  </a:lnTo>
                  <a:cubicBezTo>
                    <a:pt x="361122" y="43684"/>
                    <a:pt x="364034" y="46596"/>
                    <a:pt x="364034" y="50965"/>
                  </a:cubicBezTo>
                  <a:lnTo>
                    <a:pt x="364034" y="98289"/>
                  </a:lnTo>
                  <a:lnTo>
                    <a:pt x="218421" y="98289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42A836-2978-0111-57D1-D83BBBC95310}"/>
              </a:ext>
            </a:extLst>
          </p:cNvPr>
          <p:cNvGrpSpPr/>
          <p:nvPr/>
        </p:nvGrpSpPr>
        <p:grpSpPr>
          <a:xfrm>
            <a:off x="9080991" y="1701225"/>
            <a:ext cx="387516" cy="387516"/>
            <a:chOff x="2178173" y="7523647"/>
            <a:chExt cx="495086" cy="495086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B36CA61-97D3-7520-5B33-95A26216AB54}"/>
                </a:ext>
              </a:extLst>
            </p:cNvPr>
            <p:cNvSpPr/>
            <p:nvPr/>
          </p:nvSpPr>
          <p:spPr>
            <a:xfrm>
              <a:off x="2178173" y="7523647"/>
              <a:ext cx="495086" cy="495086"/>
            </a:xfrm>
            <a:custGeom>
              <a:avLst/>
              <a:gdLst>
                <a:gd name="connsiteX0" fmla="*/ 43684 w 495086"/>
                <a:gd name="connsiteY0" fmla="*/ 0 h 495086"/>
                <a:gd name="connsiteX1" fmla="*/ 0 w 495086"/>
                <a:gd name="connsiteY1" fmla="*/ 0 h 495086"/>
                <a:gd name="connsiteX2" fmla="*/ 0 w 495086"/>
                <a:gd name="connsiteY2" fmla="*/ 495087 h 495086"/>
                <a:gd name="connsiteX3" fmla="*/ 495087 w 495086"/>
                <a:gd name="connsiteY3" fmla="*/ 495087 h 495086"/>
                <a:gd name="connsiteX4" fmla="*/ 495087 w 495086"/>
                <a:gd name="connsiteY4" fmla="*/ 451403 h 495086"/>
                <a:gd name="connsiteX5" fmla="*/ 43684 w 495086"/>
                <a:gd name="connsiteY5" fmla="*/ 451403 h 49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5086" h="495086">
                  <a:moveTo>
                    <a:pt x="43684" y="0"/>
                  </a:moveTo>
                  <a:lnTo>
                    <a:pt x="0" y="0"/>
                  </a:lnTo>
                  <a:lnTo>
                    <a:pt x="0" y="495087"/>
                  </a:lnTo>
                  <a:lnTo>
                    <a:pt x="495087" y="495087"/>
                  </a:lnTo>
                  <a:lnTo>
                    <a:pt x="495087" y="451403"/>
                  </a:lnTo>
                  <a:lnTo>
                    <a:pt x="43684" y="451403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91F5BC5-B899-1B49-52ED-3591B3377352}"/>
                </a:ext>
              </a:extLst>
            </p:cNvPr>
            <p:cNvSpPr/>
            <p:nvPr/>
          </p:nvSpPr>
          <p:spPr>
            <a:xfrm>
              <a:off x="2265541" y="7676542"/>
              <a:ext cx="80087" cy="254824"/>
            </a:xfrm>
            <a:custGeom>
              <a:avLst/>
              <a:gdLst>
                <a:gd name="connsiteX0" fmla="*/ 0 w 80087"/>
                <a:gd name="connsiteY0" fmla="*/ 0 h 254824"/>
                <a:gd name="connsiteX1" fmla="*/ 80088 w 80087"/>
                <a:gd name="connsiteY1" fmla="*/ 0 h 254824"/>
                <a:gd name="connsiteX2" fmla="*/ 80088 w 80087"/>
                <a:gd name="connsiteY2" fmla="*/ 254824 h 254824"/>
                <a:gd name="connsiteX3" fmla="*/ 0 w 80087"/>
                <a:gd name="connsiteY3" fmla="*/ 254824 h 25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254824">
                  <a:moveTo>
                    <a:pt x="0" y="0"/>
                  </a:moveTo>
                  <a:lnTo>
                    <a:pt x="80088" y="0"/>
                  </a:lnTo>
                  <a:lnTo>
                    <a:pt x="80088" y="254824"/>
                  </a:lnTo>
                  <a:lnTo>
                    <a:pt x="0" y="254824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2311914-8640-93FE-DCA4-6A7B8D1FA567}"/>
                </a:ext>
              </a:extLst>
            </p:cNvPr>
            <p:cNvSpPr/>
            <p:nvPr/>
          </p:nvSpPr>
          <p:spPr>
            <a:xfrm>
              <a:off x="2374752" y="7523647"/>
              <a:ext cx="80087" cy="407718"/>
            </a:xfrm>
            <a:custGeom>
              <a:avLst/>
              <a:gdLst>
                <a:gd name="connsiteX0" fmla="*/ 0 w 80087"/>
                <a:gd name="connsiteY0" fmla="*/ 0 h 407718"/>
                <a:gd name="connsiteX1" fmla="*/ 80088 w 80087"/>
                <a:gd name="connsiteY1" fmla="*/ 0 h 407718"/>
                <a:gd name="connsiteX2" fmla="*/ 80088 w 80087"/>
                <a:gd name="connsiteY2" fmla="*/ 407719 h 407718"/>
                <a:gd name="connsiteX3" fmla="*/ 0 w 80087"/>
                <a:gd name="connsiteY3" fmla="*/ 407719 h 40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407718">
                  <a:moveTo>
                    <a:pt x="0" y="0"/>
                  </a:moveTo>
                  <a:lnTo>
                    <a:pt x="80088" y="0"/>
                  </a:lnTo>
                  <a:lnTo>
                    <a:pt x="80088" y="407719"/>
                  </a:lnTo>
                  <a:lnTo>
                    <a:pt x="0" y="407719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D21F22B-995C-5A11-79D9-0EA32A45330E}"/>
                </a:ext>
              </a:extLst>
            </p:cNvPr>
            <p:cNvSpPr/>
            <p:nvPr/>
          </p:nvSpPr>
          <p:spPr>
            <a:xfrm>
              <a:off x="2483962" y="7676542"/>
              <a:ext cx="80087" cy="254824"/>
            </a:xfrm>
            <a:custGeom>
              <a:avLst/>
              <a:gdLst>
                <a:gd name="connsiteX0" fmla="*/ 0 w 80087"/>
                <a:gd name="connsiteY0" fmla="*/ 0 h 254824"/>
                <a:gd name="connsiteX1" fmla="*/ 80088 w 80087"/>
                <a:gd name="connsiteY1" fmla="*/ 0 h 254824"/>
                <a:gd name="connsiteX2" fmla="*/ 80088 w 80087"/>
                <a:gd name="connsiteY2" fmla="*/ 254824 h 254824"/>
                <a:gd name="connsiteX3" fmla="*/ 0 w 80087"/>
                <a:gd name="connsiteY3" fmla="*/ 254824 h 25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254824">
                  <a:moveTo>
                    <a:pt x="0" y="0"/>
                  </a:moveTo>
                  <a:lnTo>
                    <a:pt x="80088" y="0"/>
                  </a:lnTo>
                  <a:lnTo>
                    <a:pt x="80088" y="254824"/>
                  </a:lnTo>
                  <a:lnTo>
                    <a:pt x="0" y="254824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277A084-D06C-16C1-A032-620369110F01}"/>
                </a:ext>
              </a:extLst>
            </p:cNvPr>
            <p:cNvSpPr/>
            <p:nvPr/>
          </p:nvSpPr>
          <p:spPr>
            <a:xfrm>
              <a:off x="2593172" y="7800313"/>
              <a:ext cx="80087" cy="131052"/>
            </a:xfrm>
            <a:custGeom>
              <a:avLst/>
              <a:gdLst>
                <a:gd name="connsiteX0" fmla="*/ 0 w 80087"/>
                <a:gd name="connsiteY0" fmla="*/ 0 h 131052"/>
                <a:gd name="connsiteX1" fmla="*/ 80088 w 80087"/>
                <a:gd name="connsiteY1" fmla="*/ 0 h 131052"/>
                <a:gd name="connsiteX2" fmla="*/ 80088 w 80087"/>
                <a:gd name="connsiteY2" fmla="*/ 131052 h 131052"/>
                <a:gd name="connsiteX3" fmla="*/ 0 w 80087"/>
                <a:gd name="connsiteY3" fmla="*/ 131052 h 13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087" h="131052">
                  <a:moveTo>
                    <a:pt x="0" y="0"/>
                  </a:moveTo>
                  <a:lnTo>
                    <a:pt x="80088" y="0"/>
                  </a:lnTo>
                  <a:lnTo>
                    <a:pt x="80088" y="131052"/>
                  </a:lnTo>
                  <a:lnTo>
                    <a:pt x="0" y="131052"/>
                  </a:lnTo>
                  <a:close/>
                </a:path>
              </a:pathLst>
            </a:custGeom>
            <a:grpFill/>
            <a:ln w="72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14F67D-C477-4D8B-03BA-45D2A4104A95}"/>
              </a:ext>
            </a:extLst>
          </p:cNvPr>
          <p:cNvCxnSpPr>
            <a:cxnSpLocks/>
          </p:cNvCxnSpPr>
          <p:nvPr/>
        </p:nvCxnSpPr>
        <p:spPr>
          <a:xfrm>
            <a:off x="3337793" y="2242309"/>
            <a:ext cx="0" cy="3816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81CEBF-E92D-C02A-EE1F-BFDF32B59867}"/>
              </a:ext>
            </a:extLst>
          </p:cNvPr>
          <p:cNvCxnSpPr>
            <a:cxnSpLocks/>
          </p:cNvCxnSpPr>
          <p:nvPr/>
        </p:nvCxnSpPr>
        <p:spPr>
          <a:xfrm>
            <a:off x="5964577" y="2242309"/>
            <a:ext cx="0" cy="3816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872FF4-5C11-578E-1E0A-179E8A3C1E45}"/>
              </a:ext>
            </a:extLst>
          </p:cNvPr>
          <p:cNvCxnSpPr>
            <a:cxnSpLocks/>
          </p:cNvCxnSpPr>
          <p:nvPr/>
        </p:nvCxnSpPr>
        <p:spPr>
          <a:xfrm>
            <a:off x="8591361" y="2242309"/>
            <a:ext cx="0" cy="3816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DF7F762-6EA5-BF72-FD1F-0418C98AED7D}"/>
              </a:ext>
            </a:extLst>
          </p:cNvPr>
          <p:cNvSpPr txBox="1"/>
          <p:nvPr/>
        </p:nvSpPr>
        <p:spPr>
          <a:xfrm>
            <a:off x="1820068" y="1604646"/>
            <a:ext cx="1736792" cy="60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グローバル連携・</a:t>
            </a:r>
            <a:r>
              <a:rPr kumimoji="0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KJ COE</a:t>
            </a:r>
            <a:r>
              <a:rPr lang="en-US" altLang="ja-JP" sz="1600" b="1" noProof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運営</a:t>
            </a:r>
            <a:endParaRPr kumimoji="0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BA4B277-B7B7-48C4-817A-2D708AE8FB25}"/>
              </a:ext>
            </a:extLst>
          </p:cNvPr>
          <p:cNvSpPr txBox="1"/>
          <p:nvPr/>
        </p:nvSpPr>
        <p:spPr>
          <a:xfrm>
            <a:off x="4400226" y="1583232"/>
            <a:ext cx="1286156" cy="60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ツール群検証・展開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Box 35">
            <a:extLst>
              <a:ext uri="{FF2B5EF4-FFF2-40B4-BE49-F238E27FC236}">
                <a16:creationId xmlns:a16="http://schemas.microsoft.com/office/drawing/2014/main" id="{4E69D539-B35D-54EB-4873-735495D66CAB}"/>
              </a:ext>
            </a:extLst>
          </p:cNvPr>
          <p:cNvSpPr txBox="1"/>
          <p:nvPr/>
        </p:nvSpPr>
        <p:spPr>
          <a:xfrm>
            <a:off x="3518181" y="2508496"/>
            <a:ext cx="2383938" cy="13908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直近の活動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Workbench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の導入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lvl="1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ALH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でオンボーディング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lvl="1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技術検証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 err="1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aIQ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Chat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の導入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lvl="1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Train the Trainer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セッション開催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57169BD9-9BE4-F5C7-B0BB-B12EADBAC338}"/>
              </a:ext>
            </a:extLst>
          </p:cNvPr>
          <p:cNvSpPr txBox="1"/>
          <p:nvPr/>
        </p:nvSpPr>
        <p:spPr>
          <a:xfrm>
            <a:off x="6236295" y="2503117"/>
            <a:ext cx="2250333" cy="1828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活動内容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53651127-B9CE-6B89-5993-5E904DF157E5}"/>
              </a:ext>
            </a:extLst>
          </p:cNvPr>
          <p:cNvSpPr txBox="1"/>
          <p:nvPr/>
        </p:nvSpPr>
        <p:spPr>
          <a:xfrm>
            <a:off x="8756076" y="2488879"/>
            <a:ext cx="2462069" cy="1828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活動内容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180828-C865-A5AE-71D2-DC1046D37C65}"/>
              </a:ext>
            </a:extLst>
          </p:cNvPr>
          <p:cNvSpPr txBox="1"/>
          <p:nvPr/>
        </p:nvSpPr>
        <p:spPr>
          <a:xfrm>
            <a:off x="7016828" y="1572132"/>
            <a:ext cx="1509302" cy="60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導入の　　</a:t>
            </a: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内環境整備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BB607B4-C5C7-F32F-ED70-BE2080720EA7}"/>
              </a:ext>
            </a:extLst>
          </p:cNvPr>
          <p:cNvSpPr txBox="1"/>
          <p:nvPr/>
        </p:nvSpPr>
        <p:spPr>
          <a:xfrm>
            <a:off x="9622374" y="1552896"/>
            <a:ext cx="1728110" cy="64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ja-JP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実践ノウハウ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の共有基盤整備</a:t>
            </a:r>
            <a:endParaRPr lang="en-US" altLang="ja-JP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Box 35">
            <a:extLst>
              <a:ext uri="{FF2B5EF4-FFF2-40B4-BE49-F238E27FC236}">
                <a16:creationId xmlns:a16="http://schemas.microsoft.com/office/drawing/2014/main" id="{5DDDA6FB-35ED-957F-3DE0-7F0ED613DEF2}"/>
              </a:ext>
            </a:extLst>
          </p:cNvPr>
          <p:cNvSpPr txBox="1"/>
          <p:nvPr/>
        </p:nvSpPr>
        <p:spPr>
          <a:xfrm>
            <a:off x="940686" y="4591216"/>
            <a:ext cx="2232393" cy="8307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主な計画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グローバル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共有事項や右記の活動等の実務的な連携のための分科会の設定</a:t>
            </a:r>
            <a:endParaRPr lang="en-US" altLang="ja-JP" sz="1200" b="1" u="sng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Box 35">
            <a:extLst>
              <a:ext uri="{FF2B5EF4-FFF2-40B4-BE49-F238E27FC236}">
                <a16:creationId xmlns:a16="http://schemas.microsoft.com/office/drawing/2014/main" id="{83545713-7047-4990-1769-DC2487F18AD9}"/>
              </a:ext>
            </a:extLst>
          </p:cNvPr>
          <p:cNvSpPr txBox="1"/>
          <p:nvPr/>
        </p:nvSpPr>
        <p:spPr>
          <a:xfrm>
            <a:off x="3616211" y="4591216"/>
            <a:ext cx="2250335" cy="15170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主な計画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WB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上で開発される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Enabler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類の遅滞なき情報共有・展開（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Case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Craft, Proposal Builder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WB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でリリースされるエージェント類の検証・共有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Gemini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利用検討</a:t>
            </a:r>
            <a:endParaRPr lang="en-US" altLang="ja-JP" sz="1200" b="1" u="sng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0F4A551B-0F6A-D6DF-B0B1-576B1CE2CFB9}"/>
              </a:ext>
            </a:extLst>
          </p:cNvPr>
          <p:cNvSpPr txBox="1"/>
          <p:nvPr/>
        </p:nvSpPr>
        <p:spPr>
          <a:xfrm>
            <a:off x="6176312" y="4591216"/>
            <a:ext cx="2250335" cy="1555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主な計画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アドバイザリー向け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利用における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RM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手続きの整備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ツールリリースで利用できる一般的なオンボーディングツールキット提供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利用ガイダンスフォーマット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73050" indent="-96838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オンボーディングサイト枠組み、等</a:t>
            </a:r>
            <a:endParaRPr lang="en-US" altLang="ja-JP" sz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0E4469B-7843-B5F9-536C-161CF684B46D}"/>
              </a:ext>
            </a:extLst>
          </p:cNvPr>
          <p:cNvCxnSpPr>
            <a:cxnSpLocks/>
          </p:cNvCxnSpPr>
          <p:nvPr/>
        </p:nvCxnSpPr>
        <p:spPr>
          <a:xfrm>
            <a:off x="940686" y="4458421"/>
            <a:ext cx="232117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69B5906-25C2-71A7-760A-ECC9A701CA2B}"/>
              </a:ext>
            </a:extLst>
          </p:cNvPr>
          <p:cNvCxnSpPr>
            <a:cxnSpLocks/>
          </p:cNvCxnSpPr>
          <p:nvPr/>
        </p:nvCxnSpPr>
        <p:spPr>
          <a:xfrm>
            <a:off x="3518181" y="4458421"/>
            <a:ext cx="232117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40C91096-A768-6846-2C2D-838E59B2E502}"/>
              </a:ext>
            </a:extLst>
          </p:cNvPr>
          <p:cNvCxnSpPr>
            <a:cxnSpLocks/>
          </p:cNvCxnSpPr>
          <p:nvPr/>
        </p:nvCxnSpPr>
        <p:spPr>
          <a:xfrm>
            <a:off x="6105477" y="4458421"/>
            <a:ext cx="232117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D52A30D-CA74-DB7D-9960-78BE67F4F845}"/>
              </a:ext>
            </a:extLst>
          </p:cNvPr>
          <p:cNvCxnSpPr>
            <a:cxnSpLocks/>
          </p:cNvCxnSpPr>
          <p:nvPr/>
        </p:nvCxnSpPr>
        <p:spPr>
          <a:xfrm>
            <a:off x="8896975" y="4449968"/>
            <a:ext cx="232117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5">
            <a:extLst>
              <a:ext uri="{FF2B5EF4-FFF2-40B4-BE49-F238E27FC236}">
                <a16:creationId xmlns:a16="http://schemas.microsoft.com/office/drawing/2014/main" id="{D4D785AD-D819-98BA-D36B-7425FE173D76}"/>
              </a:ext>
            </a:extLst>
          </p:cNvPr>
          <p:cNvSpPr txBox="1"/>
          <p:nvPr/>
        </p:nvSpPr>
        <p:spPr>
          <a:xfrm>
            <a:off x="8925538" y="4608880"/>
            <a:ext cx="2250335" cy="627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ja-JP" altLang="en-US" sz="1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主な計画</a:t>
            </a:r>
            <a:endParaRPr lang="en-US" altLang="ja-JP" sz="1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内で</a:t>
            </a:r>
            <a:r>
              <a:rPr lang="en-US" altLang="ja-JP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WB</a:t>
            </a:r>
            <a:r>
              <a:rPr lang="ja-JP" altLang="en-US" sz="12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の小規模開発コミュニティの設置</a:t>
            </a:r>
            <a:endParaRPr lang="en-US" altLang="ja-JP" sz="1200" b="1" u="sng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F88909D-FE41-05CE-7D70-403201D4E941}"/>
              </a:ext>
            </a:extLst>
          </p:cNvPr>
          <p:cNvCxnSpPr/>
          <p:nvPr/>
        </p:nvCxnSpPr>
        <p:spPr>
          <a:xfrm>
            <a:off x="6895807" y="3314700"/>
            <a:ext cx="8113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7C21EAF-274C-799D-5B60-C795976E553E}"/>
              </a:ext>
            </a:extLst>
          </p:cNvPr>
          <p:cNvCxnSpPr/>
          <p:nvPr/>
        </p:nvCxnSpPr>
        <p:spPr>
          <a:xfrm>
            <a:off x="9675086" y="3323492"/>
            <a:ext cx="811343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91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A946-7800-6746-9853-B0368A5F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EB5305-9D9E-1E5F-73A8-834CFE0D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b="1" dirty="0">
                <a:latin typeface="+mn-lt"/>
              </a:rPr>
              <a:t>KPMG</a:t>
            </a:r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ジャパンにおける</a:t>
            </a:r>
            <a:r>
              <a:rPr kumimoji="1" lang="en-US" altLang="ja-JP" sz="3600" b="1" dirty="0">
                <a:latin typeface="+mn-lt"/>
              </a:rPr>
              <a:t>Workbench</a:t>
            </a:r>
            <a:r>
              <a:rPr kumimoji="1" lang="ja-JP" altLang="en-US" sz="3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推進状況　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DEAA2A-9B35-1318-4A29-DE498DB34EC5}"/>
              </a:ext>
            </a:extLst>
          </p:cNvPr>
          <p:cNvSpPr/>
          <p:nvPr/>
        </p:nvSpPr>
        <p:spPr bwMode="gray">
          <a:xfrm>
            <a:off x="411189" y="1443788"/>
            <a:ext cx="5970098" cy="4668139"/>
          </a:xfrm>
          <a:prstGeom prst="rect">
            <a:avLst/>
          </a:prstGeom>
          <a:solidFill>
            <a:srgbClr val="E8E8E8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91C6CC2-C211-2BF4-EFB7-5B35844D70B8}"/>
              </a:ext>
            </a:extLst>
          </p:cNvPr>
          <p:cNvSpPr/>
          <p:nvPr/>
        </p:nvSpPr>
        <p:spPr bwMode="gray">
          <a:xfrm>
            <a:off x="1073666" y="2685401"/>
            <a:ext cx="2071375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オンボーディングフェーズ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E5B57F5-808F-1524-5E7A-73674828D1C2}"/>
              </a:ext>
            </a:extLst>
          </p:cNvPr>
          <p:cNvCxnSpPr>
            <a:cxnSpLocks/>
          </p:cNvCxnSpPr>
          <p:nvPr/>
        </p:nvCxnSpPr>
        <p:spPr bwMode="gray">
          <a:xfrm>
            <a:off x="933450" y="2293095"/>
            <a:ext cx="10655100" cy="0"/>
          </a:xfrm>
          <a:prstGeom prst="straightConnector1">
            <a:avLst/>
          </a:prstGeom>
          <a:ln w="76200" cap="rnd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円/楕円 173">
            <a:extLst>
              <a:ext uri="{FF2B5EF4-FFF2-40B4-BE49-F238E27FC236}">
                <a16:creationId xmlns:a16="http://schemas.microsoft.com/office/drawing/2014/main" id="{835393A8-A972-EC03-D55E-47BE62EE20E6}"/>
              </a:ext>
            </a:extLst>
          </p:cNvPr>
          <p:cNvSpPr>
            <a:spLocks noChangeAspect="1"/>
          </p:cNvSpPr>
          <p:nvPr/>
        </p:nvSpPr>
        <p:spPr bwMode="gray">
          <a:xfrm>
            <a:off x="1821383" y="2149095"/>
            <a:ext cx="288000" cy="288000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円/楕円 175">
            <a:extLst>
              <a:ext uri="{FF2B5EF4-FFF2-40B4-BE49-F238E27FC236}">
                <a16:creationId xmlns:a16="http://schemas.microsoft.com/office/drawing/2014/main" id="{F93C4D9A-CD57-6796-806D-BA2846189F1E}"/>
              </a:ext>
            </a:extLst>
          </p:cNvPr>
          <p:cNvSpPr>
            <a:spLocks noChangeAspect="1"/>
          </p:cNvSpPr>
          <p:nvPr/>
        </p:nvSpPr>
        <p:spPr bwMode="gray">
          <a:xfrm>
            <a:off x="7636296" y="2165434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817151-865D-D969-D08B-24687747DF62}"/>
              </a:ext>
            </a:extLst>
          </p:cNvPr>
          <p:cNvSpPr/>
          <p:nvPr/>
        </p:nvSpPr>
        <p:spPr bwMode="gray">
          <a:xfrm>
            <a:off x="1304645" y="1721323"/>
            <a:ext cx="1609415" cy="387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0" tIns="0" rIns="0" bIns="0" numCol="1" spcCol="1270" anchor="ctr" anchorCtr="0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kumimoji="1" lang="en-US" altLang="ja-JP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endParaRPr kumimoji="1" lang="ja-JP" altLang="en-US" sz="2800" kern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6AB3DC3-1C81-1C7C-08A1-676C4DFFFF22}"/>
              </a:ext>
            </a:extLst>
          </p:cNvPr>
          <p:cNvSpPr/>
          <p:nvPr/>
        </p:nvSpPr>
        <p:spPr bwMode="gray">
          <a:xfrm>
            <a:off x="4958536" y="2641239"/>
            <a:ext cx="45719" cy="249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kumimoji="1" lang="ja-JP" altLang="en-US" kern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円/楕円 174">
            <a:extLst>
              <a:ext uri="{FF2B5EF4-FFF2-40B4-BE49-F238E27FC236}">
                <a16:creationId xmlns:a16="http://schemas.microsoft.com/office/drawing/2014/main" id="{92D11F11-6FCE-6E57-17C3-E9E75F97DE73}"/>
              </a:ext>
            </a:extLst>
          </p:cNvPr>
          <p:cNvSpPr>
            <a:spLocks noChangeAspect="1"/>
          </p:cNvSpPr>
          <p:nvPr/>
        </p:nvSpPr>
        <p:spPr bwMode="gray">
          <a:xfrm>
            <a:off x="4814564" y="2149095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C1B094F-126E-23F7-FAB6-FE9F1B764212}"/>
              </a:ext>
            </a:extLst>
          </p:cNvPr>
          <p:cNvSpPr/>
          <p:nvPr/>
        </p:nvSpPr>
        <p:spPr bwMode="gray">
          <a:xfrm>
            <a:off x="4233980" y="1690821"/>
            <a:ext cx="1449115" cy="387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0" tIns="0" rIns="0" bIns="0" numCol="1" spcCol="1270" anchor="ctr" anchorCtr="0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8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28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kumimoji="1" lang="en-US" altLang="ja-JP" sz="28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8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endParaRPr kumimoji="1" lang="en-US" altLang="ja-JP" sz="2800" b="1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695DCFE-586F-33DE-7517-57E0E86B2F39}"/>
              </a:ext>
            </a:extLst>
          </p:cNvPr>
          <p:cNvSpPr/>
          <p:nvPr/>
        </p:nvSpPr>
        <p:spPr bwMode="gray">
          <a:xfrm>
            <a:off x="7525352" y="1678327"/>
            <a:ext cx="581891" cy="387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0" tIns="0" rIns="0" bIns="0" numCol="1" spcCol="1270" anchor="ctr" anchorCtr="0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</a:p>
        </p:txBody>
      </p:sp>
      <p:sp>
        <p:nvSpPr>
          <p:cNvPr id="28" name="円/楕円 175">
            <a:extLst>
              <a:ext uri="{FF2B5EF4-FFF2-40B4-BE49-F238E27FC236}">
                <a16:creationId xmlns:a16="http://schemas.microsoft.com/office/drawing/2014/main" id="{9F3EEC0D-080C-299C-7E0F-AA27A01615E4}"/>
              </a:ext>
            </a:extLst>
          </p:cNvPr>
          <p:cNvSpPr>
            <a:spLocks noChangeAspect="1"/>
          </p:cNvSpPr>
          <p:nvPr/>
        </p:nvSpPr>
        <p:spPr bwMode="gray">
          <a:xfrm>
            <a:off x="10153482" y="2178134"/>
            <a:ext cx="288000" cy="28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0014F12-AFA1-A21B-F17F-4054EC9CB6EC}"/>
              </a:ext>
            </a:extLst>
          </p:cNvPr>
          <p:cNvSpPr/>
          <p:nvPr/>
        </p:nvSpPr>
        <p:spPr bwMode="gray">
          <a:xfrm>
            <a:off x="10027547" y="1691027"/>
            <a:ext cx="581891" cy="387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0" tIns="0" rIns="0" bIns="0" numCol="1" spcCol="1270" anchor="ctr" anchorCtr="0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2800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616A8E5-D3E2-CD09-1566-D0F4186CFDA6}"/>
              </a:ext>
            </a:extLst>
          </p:cNvPr>
          <p:cNvSpPr txBox="1"/>
          <p:nvPr/>
        </p:nvSpPr>
        <p:spPr>
          <a:xfrm>
            <a:off x="6860066" y="3993457"/>
            <a:ext cx="1966401" cy="15691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WB</a:t>
            </a:r>
            <a:r>
              <a:rPr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で新しい</a:t>
            </a:r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Agent</a:t>
            </a:r>
            <a:r>
              <a:rPr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がリリースされていく中で、</a:t>
            </a:r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で各国の開発情報を取り入れ、そのナレッジの流用を前提とした議論が始まり、複数の</a:t>
            </a:r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が開始されている。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600"/>
              </a:spcAft>
            </a:pPr>
            <a:endParaRPr kumimoji="1" lang="ja-JP" alt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AD56F91-081D-7295-E759-43778E61EA92}"/>
              </a:ext>
            </a:extLst>
          </p:cNvPr>
          <p:cNvSpPr txBox="1"/>
          <p:nvPr/>
        </p:nvSpPr>
        <p:spPr>
          <a:xfrm>
            <a:off x="9433659" y="4025541"/>
            <a:ext cx="1930400" cy="17394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海外</a:t>
            </a:r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MF</a:t>
            </a:r>
            <a:r>
              <a:rPr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ナレッジを活用し、すでに数件の本番アプリがスピーディに</a:t>
            </a:r>
            <a:r>
              <a:rPr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内でリリースされており、企画からプロダクトリリースまでの新しいプロセス体験が生まれている。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Aft>
                <a:spcPts val="600"/>
              </a:spcAft>
            </a:pPr>
            <a:endParaRPr kumimoji="1"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600"/>
              </a:spcAft>
            </a:pPr>
            <a:endParaRPr kumimoji="1" lang="ja-JP" altLang="en-US" sz="1500" b="1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B41113C-E42F-CE79-13C3-C84170817289}"/>
              </a:ext>
            </a:extLst>
          </p:cNvPr>
          <p:cNvSpPr txBox="1"/>
          <p:nvPr/>
        </p:nvSpPr>
        <p:spPr>
          <a:xfrm>
            <a:off x="6624596" y="2728216"/>
            <a:ext cx="2359556" cy="79930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ja-JP" sz="2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“</a:t>
            </a:r>
            <a:r>
              <a:rPr kumimoji="1" lang="ja-JP" altLang="en-US" sz="2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海外</a:t>
            </a:r>
            <a:r>
              <a:rPr kumimoji="1" lang="en-US" altLang="ja-JP" sz="2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MF</a:t>
            </a:r>
            <a:r>
              <a:rPr kumimoji="1" lang="ja-JP" altLang="en-US" sz="2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ナレッジ探索</a:t>
            </a:r>
            <a:r>
              <a:rPr kumimoji="1" lang="en-US" altLang="ja-JP" sz="2400" b="1" dirty="0">
                <a:solidFill>
                  <a:schemeClr val="accent5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”</a:t>
            </a:r>
            <a:endParaRPr kumimoji="1" lang="ja-JP" altLang="en-US" sz="2400" b="1" dirty="0">
              <a:solidFill>
                <a:schemeClr val="accent5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66D2050-EA5F-E842-A847-F12B81C5AFCA}"/>
              </a:ext>
            </a:extLst>
          </p:cNvPr>
          <p:cNvSpPr txBox="1"/>
          <p:nvPr/>
        </p:nvSpPr>
        <p:spPr>
          <a:xfrm>
            <a:off x="9108326" y="2733078"/>
            <a:ext cx="2430839" cy="6961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ja-JP" sz="2400" b="1" dirty="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“</a:t>
            </a:r>
            <a:r>
              <a:rPr kumimoji="1" lang="ja-JP" altLang="en-US" sz="2400" b="1" dirty="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スピーディな　　　　</a:t>
            </a:r>
            <a:r>
              <a:rPr kumimoji="1" lang="ja-JP" altLang="en-US" sz="2200" b="1" dirty="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プロダクトプロセス</a:t>
            </a:r>
            <a:r>
              <a:rPr kumimoji="1" lang="en-US" altLang="ja-JP" sz="2200" b="1" dirty="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”</a:t>
            </a:r>
            <a:endParaRPr kumimoji="1" lang="ja-JP" altLang="en-US" sz="2200" b="1" dirty="0">
              <a:solidFill>
                <a:schemeClr val="accent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B9238B4-C63E-35F7-12E3-08A2786822DC}"/>
              </a:ext>
            </a:extLst>
          </p:cNvPr>
          <p:cNvSpPr txBox="1"/>
          <p:nvPr/>
        </p:nvSpPr>
        <p:spPr>
          <a:xfrm>
            <a:off x="3737260" y="2698445"/>
            <a:ext cx="2505683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“</a:t>
            </a:r>
            <a:r>
              <a:rPr kumimoji="1" lang="ja-JP" altLang="en-US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誰でも</a:t>
            </a:r>
            <a:r>
              <a:rPr kumimoji="1" lang="en-US" altLang="ja-JP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週間で迷いなく開始</a:t>
            </a:r>
            <a:r>
              <a:rPr kumimoji="1" lang="en-US" altLang="ja-JP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”</a:t>
            </a:r>
            <a:endParaRPr kumimoji="1" lang="ja-JP" altLang="en-US" sz="2400" b="1" kern="1200" dirty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8BF9511A-5FEC-2371-FADD-A55304B3E250}"/>
              </a:ext>
            </a:extLst>
          </p:cNvPr>
          <p:cNvSpPr/>
          <p:nvPr/>
        </p:nvSpPr>
        <p:spPr>
          <a:xfrm>
            <a:off x="6642399" y="3628503"/>
            <a:ext cx="2311101" cy="2169447"/>
          </a:xfrm>
          <a:prstGeom prst="roundRect">
            <a:avLst>
              <a:gd name="adj" fmla="val 9891"/>
            </a:avLst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FA34D2BB-DABD-7170-6399-0C89C8BD6531}"/>
              </a:ext>
            </a:extLst>
          </p:cNvPr>
          <p:cNvSpPr/>
          <p:nvPr/>
        </p:nvSpPr>
        <p:spPr>
          <a:xfrm>
            <a:off x="9214613" y="3628503"/>
            <a:ext cx="2311101" cy="2162697"/>
          </a:xfrm>
          <a:prstGeom prst="roundRect">
            <a:avLst>
              <a:gd name="adj" fmla="val 9891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kumimoji="1" lang="ja-JP" altLang="en-US" sz="1500" dirty="0" err="1">
              <a:solidFill>
                <a:schemeClr val="bg1"/>
              </a:solidFill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C19FD39E-A548-8FA5-AD0F-146BE6C5B594}"/>
              </a:ext>
            </a:extLst>
          </p:cNvPr>
          <p:cNvSpPr/>
          <p:nvPr/>
        </p:nvSpPr>
        <p:spPr>
          <a:xfrm>
            <a:off x="3726272" y="3628503"/>
            <a:ext cx="2451077" cy="2162697"/>
          </a:xfrm>
          <a:prstGeom prst="round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88900" indent="-88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開発者向けオンボーディングサイトのローンチ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8900" indent="-88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API/Agent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の検証を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ALH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で推進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8900" indent="-88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Cookbook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作成・開発者コミュニティのローンチ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4BCA627-E947-88BB-DFE2-7571EC6C9F65}"/>
              </a:ext>
            </a:extLst>
          </p:cNvPr>
          <p:cNvSpPr/>
          <p:nvPr/>
        </p:nvSpPr>
        <p:spPr>
          <a:xfrm>
            <a:off x="845973" y="3635255"/>
            <a:ext cx="2451077" cy="216269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88900" indent="-88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ALH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メンバーでｵﾝﾎﾞｰﾃﾞｨﾝｸﾞ開始し手続上の障壁把握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8900" indent="-88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ｱｸｾｽでｸﾞﾛｰﾊﾞﾙ共通の課題発生－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12/1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に解決済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88900" indent="-88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11/13 Global WB Community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がローンチ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Box 6">
            <a:extLst>
              <a:ext uri="{FF2B5EF4-FFF2-40B4-BE49-F238E27FC236}">
                <a16:creationId xmlns:a16="http://schemas.microsoft.com/office/drawing/2014/main" id="{6CBBCE60-03BA-DEB7-D734-7547FFAF64CE}"/>
              </a:ext>
            </a:extLst>
          </p:cNvPr>
          <p:cNvSpPr txBox="1"/>
          <p:nvPr/>
        </p:nvSpPr>
        <p:spPr>
          <a:xfrm>
            <a:off x="558988" y="1042272"/>
            <a:ext cx="110740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KJ</a:t>
            </a:r>
            <a:r>
              <a:rPr lang="ja-JP" altLang="en-US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全体の</a:t>
            </a:r>
            <a:r>
              <a:rPr lang="en-US" altLang="ja-JP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WB</a:t>
            </a:r>
            <a:r>
              <a:rPr lang="ja-JP" altLang="en-US" sz="24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活用をリードし、オンボーディング設計・検証・知見流通を一体で推進中</a:t>
            </a:r>
          </a:p>
        </p:txBody>
      </p:sp>
    </p:spTree>
    <p:extLst>
      <p:ext uri="{BB962C8B-B14F-4D97-AF65-F5344CB8AC3E}">
        <p14:creationId xmlns:p14="http://schemas.microsoft.com/office/powerpoint/2010/main" val="4203662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17/07/2017 11:56: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heme/theme1.xml><?xml version="1.0" encoding="utf-8"?>
<a:theme xmlns:a="http://schemas.openxmlformats.org/drawingml/2006/main" name="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ndC_ReviewDate xmlns="c44a1071-0daf-4530-924d-451da7a27e23" xsi:nil="true"/>
    <CandC_Featured xmlns="c44a1071-0daf-4530-924d-451da7a27e23">false</CandC_Featured>
    <CandC_OverrideImageUrl xmlns="c44a1071-0daf-4530-924d-451da7a27e23">
      <Url xsi:nil="true"/>
      <Description xsi:nil="true"/>
    </CandC_OverrideImageUrl>
    <CandC_Tax_3TaxHTField xmlns="c44a1071-0daf-4530-924d-451da7a27e23">
      <Terms xmlns="http://schemas.microsoft.com/office/infopath/2007/PartnerControls"/>
    </CandC_Tax_3TaxHTField>
    <CandC_Tax_2TaxHTField xmlns="c44a1071-0daf-4530-924d-451da7a27e23">
      <Terms xmlns="http://schemas.microsoft.com/office/infopath/2007/PartnerControls"/>
    </CandC_Tax_2TaxHTField>
    <CandC_Tax_1TaxHTField xmlns="c44a1071-0daf-4530-924d-451da7a27e23">
      <Terms xmlns="http://schemas.microsoft.com/office/infopath/2007/PartnerControls"/>
    </CandC_Tax_1TaxHTField>
    <KPMG_ContentPublisher xmlns="c44a1071-0daf-4530-924d-451da7a27e23">
      <UserInfo>
        <DisplayName/>
        <AccountId xsi:nil="true"/>
        <AccountType/>
      </UserInfo>
    </KPMG_ContentPublisher>
    <CandC_PublishedExpirationDate xmlns="4ca9bab2-2aca-4fd9-9657-56a4c58137fc" xsi:nil="true"/>
    <CandC_Tax_7TaxHTField xmlns="c44a1071-0daf-4530-924d-451da7a27e23">
      <Terms xmlns="http://schemas.microsoft.com/office/infopath/2007/PartnerControls"/>
    </CandC_Tax_7TaxHTField>
    <TaxCatchAll xmlns="c44a1071-0daf-4530-924d-451da7a27e23" xsi:nil="true"/>
    <KPMG_ContentOwner xmlns="c44a1071-0daf-4530-924d-451da7a27e23">
      <UserInfo>
        <DisplayName/>
        <AccountId xsi:nil="true"/>
        <AccountType/>
      </UserInfo>
    </KPMG_ContentOwner>
    <CandC_Tax_6TaxHTField xmlns="c44a1071-0daf-4530-924d-451da7a27e23">
      <Terms xmlns="http://schemas.microsoft.com/office/infopath/2007/PartnerControls"/>
    </CandC_Tax_6TaxHTField>
    <CandC_Tax_5TaxHTField xmlns="c44a1071-0daf-4530-924d-451da7a27e23">
      <Terms xmlns="http://schemas.microsoft.com/office/infopath/2007/PartnerControls"/>
    </CandC_Tax_5TaxHTField>
    <CandC_Tax_4TaxHTField xmlns="c44a1071-0daf-4530-924d-451da7a27e23">
      <Terms xmlns="http://schemas.microsoft.com/office/infopath/2007/PartnerControls"/>
    </CandC_Tax_4TaxHTField>
    <CandC_Tax_ToolsTaxHTField xmlns="c44a1071-0daf-4530-924d-451da7a27e23">
      <Terms xmlns="http://schemas.microsoft.com/office/infopath/2007/PartnerControls"/>
    </CandC_Tax_ToolsTaxHTField>
    <CandC_Tax_InstanceTerms2TaxHTField xmlns="c44a1071-0daf-4530-924d-451da7a27e23">
      <Terms xmlns="http://schemas.microsoft.com/office/infopath/2007/PartnerControls"/>
    </CandC_Tax_InstanceTerms2TaxHTField>
    <CandC_Tax_8TaxHTField xmlns="c44a1071-0daf-4530-924d-451da7a27e23">
      <Terms xmlns="http://schemas.microsoft.com/office/infopath/2007/PartnerControls"/>
    </CandC_Tax_8TaxHTField>
    <CandC_Description xmlns="c44a1071-0daf-4530-924d-451da7a27e23" xsi:nil="true"/>
    <CandC_PublishedDate xmlns="4ca9bab2-2aca-4fd9-9657-56a4c58137fc">2022-09-07T03:08:25+00:00</CandC_PublishedDate>
    <CandC_Tax_ESGTaxHTField xmlns="c44a1071-0daf-4530-924d-451da7a27e23">
      <Terms xmlns="http://schemas.microsoft.com/office/infopath/2007/PartnerControls"/>
    </CandC_Tax_ESGTaxHTField>
    <CandC_Tax_InstanceTerms3TaxHTField xmlns="c44a1071-0daf-4530-924d-451da7a27e23">
      <Terms xmlns="http://schemas.microsoft.com/office/infopath/2007/PartnerControls"/>
    </CandC_Tax_InstanceTerms3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Fresh document" ma:contentTypeID="0x01010036DF8ACB058DF9489700B19236AAD59400A8438F9BF7EBF44C8D9B4EC62E9B3742" ma:contentTypeVersion="37" ma:contentTypeDescription="" ma:contentTypeScope="" ma:versionID="de59c5132750fa41aef2427b9e8e7569">
  <xsd:schema xmlns:xsd="http://www.w3.org/2001/XMLSchema" xmlns:xs="http://www.w3.org/2001/XMLSchema" xmlns:p="http://schemas.microsoft.com/office/2006/metadata/properties" xmlns:ns1="c44a1071-0daf-4530-924d-451da7a27e23" xmlns:ns3="4ca9bab2-2aca-4fd9-9657-56a4c58137fc" targetNamespace="http://schemas.microsoft.com/office/2006/metadata/properties" ma:root="true" ma:fieldsID="38d7676ea6f25e8f497e45be7ef40f7d" ns1:_="" ns3:_="">
    <xsd:import namespace="c44a1071-0daf-4530-924d-451da7a27e23"/>
    <xsd:import namespace="4ca9bab2-2aca-4fd9-9657-56a4c58137fc"/>
    <xsd:element name="properties">
      <xsd:complexType>
        <xsd:sequence>
          <xsd:element name="documentManagement">
            <xsd:complexType>
              <xsd:all>
                <xsd:element ref="ns1:CandC_Tax_1TaxHTField" minOccurs="0"/>
                <xsd:element ref="ns1:CandC_Tax_2TaxHTField" minOccurs="0"/>
                <xsd:element ref="ns1:CandC_Tax_3TaxHTField" minOccurs="0"/>
                <xsd:element ref="ns1:CandC_Tax_4TaxHTField" minOccurs="0"/>
                <xsd:element ref="ns1:CandC_Tax_5TaxHTField" minOccurs="0"/>
                <xsd:element ref="ns1:CandC_Tax_6TaxHTField" minOccurs="0"/>
                <xsd:element ref="ns1:CandC_Tax_7TaxHTField" minOccurs="0"/>
                <xsd:element ref="ns1:CandC_Tax_8TaxHTField" minOccurs="0"/>
                <xsd:element ref="ns1:TaxCatchAll" minOccurs="0"/>
                <xsd:element ref="ns1:TaxCatchAllLabel" minOccurs="0"/>
                <xsd:element ref="ns1:CandC_Description" minOccurs="0"/>
                <xsd:element ref="ns1:CandC_Featured" minOccurs="0"/>
                <xsd:element ref="ns1:KPMG_ContentOwner" minOccurs="0"/>
                <xsd:element ref="ns1:KPMG_ContentPublisher" minOccurs="0"/>
                <xsd:element ref="ns1:CandC_Tax_ToolsTaxHTField" minOccurs="0"/>
                <xsd:element ref="ns1:CandC_Tax_ESGTaxHTField" minOccurs="0"/>
                <xsd:element ref="ns1:CandC_Tax_InstanceTerms2TaxHTField" minOccurs="0"/>
                <xsd:element ref="ns1:CandC_Tax_InstanceTerms3TaxHTField" minOccurs="0"/>
                <xsd:element ref="ns3:CandC_PublishedExpirationDate" minOccurs="0"/>
                <xsd:element ref="ns1:CandC_ReviewDate" minOccurs="0"/>
                <xsd:element ref="ns1:CandC_OverrideImageUrl" minOccurs="0"/>
                <xsd:element ref="ns3:CandC_Published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a1071-0daf-4530-924d-451da7a27e23" elementFormDefault="qualified">
    <xsd:import namespace="http://schemas.microsoft.com/office/2006/documentManagement/types"/>
    <xsd:import namespace="http://schemas.microsoft.com/office/infopath/2007/PartnerControls"/>
    <xsd:element name="CandC_Tax_1TaxHTField" ma:index="0" nillable="true" ma:taxonomy="true" ma:internalName="CandC_Tax_1TaxHTField" ma:taxonomyFieldName="CandC_Tax_1" ma:displayName="言語" ma:default="" ma:fieldId="{f0f184d7-0b9b-444f-94bc-10343587c733}" ma:taxonomyMulti="true" ma:sspId="8883d318-f35c-4577-94aa-4c8e836d27a7" ma:termSetId="2b0daba9-ae39-4e62-8db4-7a0d767d67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ndC_Tax_2TaxHTField" ma:index="1" nillable="true" ma:taxonomy="true" ma:internalName="CandC_Tax_2TaxHTField" ma:taxonomyFieldName="CandC_Tax_2" ma:displayName="サービス、機能" ma:default="" ma:fieldId="{6454b680-6f34-4f01-97ca-34334082f070}" ma:taxonomyMulti="true" ma:sspId="8883d318-f35c-4577-94aa-4c8e836d27a7" ma:termSetId="cc35b6ac-4b83-4269-8f4a-f63a3cf166f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ndC_Tax_3TaxHTField" ma:index="2" nillable="true" ma:taxonomy="true" ma:internalName="CandC_Tax_3TaxHTField" ma:taxonomyFieldName="CandC_Tax_3" ma:displayName="業界、セクター、マーケット" ma:default="" ma:fieldId="{759fb41c-e9f4-4f8d-a428-53bd45fa9de8}" ma:taxonomyMulti="true" ma:sspId="8883d318-f35c-4577-94aa-4c8e836d27a7" ma:termSetId="55836ab6-b398-4153-94bb-31daab9a295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ndC_Tax_4TaxHTField" ma:index="3" nillable="true" ma:taxonomy="true" ma:internalName="CandC_Tax_4TaxHTField" ma:taxonomyFieldName="CandC_Tax_4" ma:displayName="閲覧対象のユーザー" ma:default="" ma:fieldId="{7884c4a6-666a-4c96-8d95-b481dcac504b}" ma:taxonomyMulti="true" ma:sspId="8883d318-f35c-4577-94aa-4c8e836d27a7" ma:termSetId="039b1d3a-c0df-4919-bbf6-4ccc2bae9021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CandC_Tax_5TaxHTField" ma:index="4" nillable="true" ma:taxonomy="true" ma:internalName="CandC_Tax_5TaxHTField" ma:taxonomyFieldName="CandC_Tax_5" ma:displayName="ロケーション" ma:default="" ma:fieldId="{8ec7b074-a3be-4541-acc0-5ffdcce0b2ed}" ma:taxonomyMulti="true" ma:sspId="8883d318-f35c-4577-94aa-4c8e836d27a7" ma:termSetId="565db27f-e60e-4473-a128-94a4369d03cf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CandC_Tax_6TaxHTField" ma:index="5" nillable="true" ma:taxonomy="true" ma:internalName="CandC_Tax_6TaxHTField" ma:taxonomyFieldName="CandC_Tax_6" ma:displayName="コンテンツのカテゴリー" ma:default="" ma:fieldId="{265a5956-1c57-4a67-958f-c252aefd9f60}" ma:taxonomyMulti="true" ma:sspId="8883d318-f35c-4577-94aa-4c8e836d27a7" ma:termSetId="34252e59-c3dd-4d01-88a9-baea1ab82ec3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CandC_Tax_7TaxHTField" ma:index="6" nillable="true" ma:taxonomy="true" ma:internalName="CandC_Tax_7TaxHTField" ma:taxonomyFieldName="CandC_Tax_7" ma:displayName="トピック" ma:default="" ma:fieldId="{95b187bc-b8e0-4cc3-9d90-48d038784e6d}" ma:taxonomyMulti="true" ma:sspId="8883d318-f35c-4577-94aa-4c8e836d27a7" ma:termSetId="39aecad2-9d93-445c-b770-df642787505b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CandC_Tax_8TaxHTField" ma:index="7" nillable="true" ma:taxonomy="true" ma:internalName="CandC_Tax_8TaxHTField" ma:taxonomyFieldName="CandC_Tax_8" ma:displayName="Instance Terms" ma:default="" ma:fieldId="{36cccf54-ed80-4bef-98cb-ca575c7ad017}" ma:taxonomyMulti="true" ma:sspId="8883d318-f35c-4577-94aa-4c8e836d27a7" ma:termSetId="2ed40343-54bb-4409-a333-ea0f42769aab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8" nillable="true" ma:displayName="Taxonomy Catch All Column" ma:hidden="true" ma:list="{14028c00-a6db-49b0-b4a9-e81bbb5510f2}" ma:internalName="TaxCatchAll" ma:showField="CatchAllData" ma:web="c44a1071-0daf-4530-924d-451da7a27e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14028c00-a6db-49b0-b4a9-e81bbb5510f2}" ma:internalName="TaxCatchAllLabel" ma:readOnly="true" ma:showField="CatchAllDataLabel" ma:web="c44a1071-0daf-4530-924d-451da7a27e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andC_Description" ma:index="18" nillable="true" ma:displayName="Short description" ma:internalName="CandC_Description">
      <xsd:simpleType>
        <xsd:restriction base="dms:Note">
          <xsd:maxLength value="255"/>
        </xsd:restriction>
      </xsd:simpleType>
    </xsd:element>
    <xsd:element name="CandC_Featured" ma:index="19" nillable="true" ma:displayName="Featured" ma:default="0" ma:internalName="CandC_Featured">
      <xsd:simpleType>
        <xsd:restriction base="dms:Boolean"/>
      </xsd:simpleType>
    </xsd:element>
    <xsd:element name="KPMG_ContentOwner" ma:index="20" nillable="true" ma:displayName="Content Owner" ma:list="UserInfo" ma:SharePointGroup="0" ma:internalName="KPMG_Cont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KPMG_ContentPublisher" ma:index="21" nillable="true" ma:displayName="Content Publisher" ma:list="UserInfo" ma:SharePointGroup="0" ma:internalName="KPMG_ContentPublish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andC_Tax_ToolsTaxHTField" ma:index="22" nillable="true" ma:taxonomy="true" ma:internalName="CandC_Tax_ToolsTaxHTField" ma:taxonomyFieldName="CandC_Tax_Tools" ma:displayName="Tools" ma:fieldId="{bdbe8a50-be70-42dd-b2c0-c98c59453458}" ma:taxonomyMulti="true" ma:sspId="8883d318-f35c-4577-94aa-4c8e836d27a7" ma:termSetId="5d5f344c-ba54-4740-9e1e-b5f8b3b0e6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ndC_Tax_ESGTaxHTField" ma:index="23" nillable="true" ma:taxonomy="true" ma:internalName="CandC_Tax_ESGTaxHTField" ma:taxonomyFieldName="CandC_Tax_ESG" ma:displayName="ESG" ma:fieldId="{855f24c8-b79c-42f0-9ae7-806313b57463}" ma:taxonomyMulti="true" ma:sspId="8883d318-f35c-4577-94aa-4c8e836d27a7" ma:termSetId="712edbf2-846f-46b6-bcc9-d70c4b17cb2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ndC_Tax_InstanceTerms2TaxHTField" ma:index="24" nillable="true" ma:taxonomy="true" ma:internalName="CandC_Tax_InstanceTerms2TaxHTField" ma:taxonomyFieldName="CandC_Tax_InstanceTerms2" ma:displayName="Instance Terms 2" ma:fieldId="{80f92f3b-0d77-4486-ae67-ca5d55bd3704}" ma:taxonomyMulti="true" ma:sspId="8883d318-f35c-4577-94aa-4c8e836d27a7" ma:termSetId="f9fc4452-6d49-4ee5-9bec-5a7195c1c13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ndC_Tax_InstanceTerms3TaxHTField" ma:index="25" nillable="true" ma:taxonomy="true" ma:internalName="CandC_Tax_InstanceTerms3TaxHTField" ma:taxonomyFieldName="CandC_Tax_InstanceTerms3" ma:displayName="Instance Terms 3" ma:fieldId="{090766fa-c6ab-43be-9914-b473d1fd9404}" ma:taxonomyMulti="true" ma:sspId="8883d318-f35c-4577-94aa-4c8e836d27a7" ma:termSetId="6c0d17bd-5632-4527-a0ac-34e02531b48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andC_ReviewDate" ma:index="39" nillable="true" ma:displayName="Review date" ma:description="Date for revision" ma:format="DateOnly" ma:internalName="CandC_ReviewDate">
      <xsd:simpleType>
        <xsd:restriction base="dms:DateTime"/>
      </xsd:simpleType>
    </xsd:element>
    <xsd:element name="CandC_OverrideImageUrl" ma:index="40" nillable="true" ma:displayName="Override rollup image" ma:description="Override the rollup image for this document" ma:format="Hyperlink" ma:internalName="CandC_OverrideImage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9bab2-2aca-4fd9-9657-56a4c58137fc" elementFormDefault="qualified">
    <xsd:import namespace="http://schemas.microsoft.com/office/2006/documentManagement/types"/>
    <xsd:import namespace="http://schemas.microsoft.com/office/infopath/2007/PartnerControls"/>
    <xsd:element name="CandC_PublishedExpirationDate" ma:index="37" nillable="true" ma:displayName="Expiration date" ma:description="The date from which to stop pushing this content to users" ma:format="DateOnly" ma:internalName="CandC_PublishedExpirationDate">
      <xsd:simpleType>
        <xsd:restriction base="dms:DateTime"/>
      </xsd:simpleType>
    </xsd:element>
    <xsd:element name="CandC_PublishedDate" ma:index="41" nillable="true" ma:displayName="Publish date" ma:default="[today]" ma:description="The date from which to push this content to users" ma:format="DateOnly" ma:internalName="CandC_PublishedDate" ma:readOnly="fals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33" ma:displayName="コンテンツ タイプ"/>
        <xsd:element ref="dc:title" minOccurs="0" maxOccurs="1" ma:index="38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178AB8-4EEF-497A-9E9B-5FE65D5D1AEB}">
  <ds:schemaRefs>
    <ds:schemaRef ds:uri="http://schemas.microsoft.com/office/2006/metadata/properties"/>
    <ds:schemaRef ds:uri="4ca9bab2-2aca-4fd9-9657-56a4c58137fc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c44a1071-0daf-4530-924d-451da7a27e23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09228873-7A23-456D-86A6-DF7E4EF625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C7ED5-05B0-4E7E-987F-1DF164D51F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4a1071-0daf-4530-924d-451da7a27e23"/>
    <ds:schemaRef ds:uri="4ca9bab2-2aca-4fd9-9657-56a4c5813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5653b52-df9b-47d2-8549-8de78ac04e21}" enabled="1" method="Standard" siteId="{deff24bb-2089-4400-8c8e-f71e68037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KPMG Global Brand Refresh_Widescreen-Revised_v10</Template>
  <TotalTime>5028</TotalTime>
  <Words>793</Words>
  <Application>Microsoft Office PowerPoint</Application>
  <PresentationFormat>ワイド画面</PresentationFormat>
  <Paragraphs>88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Meiryo UI</vt:lpstr>
      <vt:lpstr>Arial</vt:lpstr>
      <vt:lpstr>KPMG Bold</vt:lpstr>
      <vt:lpstr>KPMG Widescreen [16:9] Feb 2022</vt:lpstr>
      <vt:lpstr>AI COE活動骨子</vt:lpstr>
      <vt:lpstr>AI COE 活動Update</vt:lpstr>
      <vt:lpstr>KPMGジャパンにおけるWorkbench推進状況　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Wide screen template</dc:title>
  <dc:creator>Rosli, Saifun</dc:creator>
  <cp:lastModifiedBy>Ma, Junchen (KC)</cp:lastModifiedBy>
  <cp:revision>265</cp:revision>
  <dcterms:created xsi:type="dcterms:W3CDTF">2022-03-14T16:42:38Z</dcterms:created>
  <dcterms:modified xsi:type="dcterms:W3CDTF">2025-12-09T01:29:27Z</dcterms:modified>
  <cp:category>KPMG 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0x01010036DF8ACB058DF9489700B19236AAD59400A8438F9BF7EBF44C8D9B4EC62E9B3742</vt:lpwstr>
  </property>
</Properties>
</file>